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7" r:id="rId2"/>
    <p:sldId id="267" r:id="rId3"/>
    <p:sldId id="274" r:id="rId4"/>
    <p:sldId id="268" r:id="rId5"/>
    <p:sldId id="269" r:id="rId6"/>
    <p:sldId id="262" r:id="rId7"/>
    <p:sldId id="271" r:id="rId8"/>
    <p:sldId id="263" r:id="rId9"/>
    <p:sldId id="272" r:id="rId10"/>
    <p:sldId id="264" r:id="rId11"/>
    <p:sldId id="259" r:id="rId12"/>
    <p:sldId id="273" r:id="rId13"/>
    <p:sldId id="266" r:id="rId14"/>
  </p:sldIdLst>
  <p:sldSz cx="12192000" cy="6858000"/>
  <p:notesSz cx="6858000" cy="9144000"/>
  <p:defaultTextStyle>
    <a:defPPr lvl="0">
      <a:defRPr lang="en-US"/>
    </a:defPPr>
    <a:lvl1pPr lvl="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lvl="1"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lvl="2"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lvl="3"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lvl="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lvl="5" algn="l" defTabSz="914400" rtl="0" eaLnBrk="1" latinLnBrk="0" hangingPunct="1">
      <a:defRPr kern="1200">
        <a:solidFill>
          <a:schemeClr val="tx1"/>
        </a:solidFill>
        <a:latin typeface="Calibri" panose="020F0502020204030204" pitchFamily="34" charset="0"/>
        <a:ea typeface="+mn-ea"/>
        <a:cs typeface="+mn-cs"/>
      </a:defRPr>
    </a:lvl6pPr>
    <a:lvl7pPr marL="2743200" lvl="6" algn="l" defTabSz="914400" rtl="0" eaLnBrk="1" latinLnBrk="0" hangingPunct="1">
      <a:defRPr kern="1200">
        <a:solidFill>
          <a:schemeClr val="tx1"/>
        </a:solidFill>
        <a:latin typeface="Calibri" panose="020F0502020204030204" pitchFamily="34" charset="0"/>
        <a:ea typeface="+mn-ea"/>
        <a:cs typeface="+mn-cs"/>
      </a:defRPr>
    </a:lvl7pPr>
    <a:lvl8pPr marL="3200400" lvl="7" algn="l" defTabSz="914400" rtl="0" eaLnBrk="1" latinLnBrk="0" hangingPunct="1">
      <a:defRPr kern="1200">
        <a:solidFill>
          <a:schemeClr val="tx1"/>
        </a:solidFill>
        <a:latin typeface="Calibri" panose="020F0502020204030204" pitchFamily="34" charset="0"/>
        <a:ea typeface="+mn-ea"/>
        <a:cs typeface="+mn-cs"/>
      </a:defRPr>
    </a:lvl8pPr>
    <a:lvl9pPr marL="3657600" lvl="8"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F15C26-EF3D-D263-9566-20F0D7011312}"/>
              </a:ext>
            </a:extLst>
          </p:cNvPr>
          <p:cNvSpPr>
            <a:spLocks noGrp="1"/>
          </p:cNvSpPr>
          <p:nvPr>
            <p:ph type="dt" sz="half" idx="10"/>
          </p:nvPr>
        </p:nvSpPr>
        <p:spPr/>
        <p:txBody>
          <a:bodyPr/>
          <a:lstStyle>
            <a:lvl1pPr>
              <a:defRPr/>
            </a:lvl1pPr>
          </a:lstStyle>
          <a:p>
            <a:pPr>
              <a:defRPr/>
            </a:pPr>
            <a:fld id="{2AE46D24-E395-4DFB-9A67-D43383943EA8}" type="datetimeFigureOut">
              <a:rPr lang="en-US"/>
              <a:pPr>
                <a:defRPr/>
              </a:pPr>
              <a:t>2/26/2026</a:t>
            </a:fld>
            <a:endParaRPr lang="en-US"/>
          </a:p>
        </p:txBody>
      </p:sp>
      <p:sp>
        <p:nvSpPr>
          <p:cNvPr id="5" name="Footer Placeholder 4">
            <a:extLst>
              <a:ext uri="{FF2B5EF4-FFF2-40B4-BE49-F238E27FC236}">
                <a16:creationId xmlns:a16="http://schemas.microsoft.com/office/drawing/2014/main" id="{C48CA52A-8182-98CB-2F8F-D70D5294BB3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1089085-1307-DC71-25E6-F64DD693A884}"/>
              </a:ext>
            </a:extLst>
          </p:cNvPr>
          <p:cNvSpPr>
            <a:spLocks noGrp="1"/>
          </p:cNvSpPr>
          <p:nvPr>
            <p:ph type="sldNum" sz="quarter" idx="12"/>
          </p:nvPr>
        </p:nvSpPr>
        <p:spPr/>
        <p:txBody>
          <a:bodyPr/>
          <a:lstStyle>
            <a:lvl1pPr>
              <a:defRPr/>
            </a:lvl1pPr>
          </a:lstStyle>
          <a:p>
            <a:pPr>
              <a:defRPr/>
            </a:pPr>
            <a:fld id="{045643BE-A18F-4EF6-9E17-D58DD136B7D7}" type="slidenum">
              <a:rPr lang="en-US"/>
              <a:pPr>
                <a:defRPr/>
              </a:pPr>
              <a:t>‹#›</a:t>
            </a:fld>
            <a:endParaRPr lang="en-US"/>
          </a:p>
        </p:txBody>
      </p:sp>
    </p:spTree>
    <p:extLst>
      <p:ext uri="{BB962C8B-B14F-4D97-AF65-F5344CB8AC3E}">
        <p14:creationId xmlns:p14="http://schemas.microsoft.com/office/powerpoint/2010/main" val="942467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C6EDD-45ED-7637-BE9A-D8F2155A5A0B}"/>
              </a:ext>
            </a:extLst>
          </p:cNvPr>
          <p:cNvSpPr>
            <a:spLocks noGrp="1"/>
          </p:cNvSpPr>
          <p:nvPr>
            <p:ph type="dt" sz="half" idx="10"/>
          </p:nvPr>
        </p:nvSpPr>
        <p:spPr/>
        <p:txBody>
          <a:bodyPr/>
          <a:lstStyle>
            <a:lvl1pPr>
              <a:defRPr/>
            </a:lvl1pPr>
          </a:lstStyle>
          <a:p>
            <a:pPr>
              <a:defRPr/>
            </a:pPr>
            <a:fld id="{02907655-F5A1-4B97-9661-3375ADD87A11}" type="datetimeFigureOut">
              <a:rPr lang="en-US"/>
              <a:pPr>
                <a:defRPr/>
              </a:pPr>
              <a:t>2/26/2026</a:t>
            </a:fld>
            <a:endParaRPr lang="en-US"/>
          </a:p>
        </p:txBody>
      </p:sp>
      <p:sp>
        <p:nvSpPr>
          <p:cNvPr id="5" name="Footer Placeholder 4">
            <a:extLst>
              <a:ext uri="{FF2B5EF4-FFF2-40B4-BE49-F238E27FC236}">
                <a16:creationId xmlns:a16="http://schemas.microsoft.com/office/drawing/2014/main" id="{23FD6EC8-A6DB-82DD-987E-78FAEF4EDD8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E700DA7-E605-7BD5-5943-D991509372D7}"/>
              </a:ext>
            </a:extLst>
          </p:cNvPr>
          <p:cNvSpPr>
            <a:spLocks noGrp="1"/>
          </p:cNvSpPr>
          <p:nvPr>
            <p:ph type="sldNum" sz="quarter" idx="12"/>
          </p:nvPr>
        </p:nvSpPr>
        <p:spPr/>
        <p:txBody>
          <a:bodyPr/>
          <a:lstStyle>
            <a:lvl1pPr>
              <a:defRPr/>
            </a:lvl1pPr>
          </a:lstStyle>
          <a:p>
            <a:pPr>
              <a:defRPr/>
            </a:pPr>
            <a:fld id="{4C3FF6BB-592E-4E2F-9D6E-F40B0DBF7D65}" type="slidenum">
              <a:rPr lang="en-US"/>
              <a:pPr>
                <a:defRPr/>
              </a:pPr>
              <a:t>‹#›</a:t>
            </a:fld>
            <a:endParaRPr lang="en-US"/>
          </a:p>
        </p:txBody>
      </p:sp>
    </p:spTree>
    <p:extLst>
      <p:ext uri="{BB962C8B-B14F-4D97-AF65-F5344CB8AC3E}">
        <p14:creationId xmlns:p14="http://schemas.microsoft.com/office/powerpoint/2010/main" val="233686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4C3FBD0-96BB-E823-010D-B0C3324E8739}"/>
              </a:ext>
            </a:extLst>
          </p:cNvPr>
          <p:cNvSpPr>
            <a:spLocks noGrp="1"/>
          </p:cNvSpPr>
          <p:nvPr>
            <p:ph type="dt" sz="half" idx="10"/>
          </p:nvPr>
        </p:nvSpPr>
        <p:spPr/>
        <p:txBody>
          <a:bodyPr/>
          <a:lstStyle>
            <a:lvl1pPr>
              <a:defRPr/>
            </a:lvl1pPr>
          </a:lstStyle>
          <a:p>
            <a:pPr>
              <a:defRPr/>
            </a:pPr>
            <a:fld id="{E2E407A2-4B8F-4107-9A6B-DC625A988444}" type="datetimeFigureOut">
              <a:rPr lang="en-US"/>
              <a:pPr>
                <a:defRPr/>
              </a:pPr>
              <a:t>2/26/2026</a:t>
            </a:fld>
            <a:endParaRPr lang="en-US"/>
          </a:p>
        </p:txBody>
      </p:sp>
      <p:sp>
        <p:nvSpPr>
          <p:cNvPr id="5" name="Footer Placeholder 4">
            <a:extLst>
              <a:ext uri="{FF2B5EF4-FFF2-40B4-BE49-F238E27FC236}">
                <a16:creationId xmlns:a16="http://schemas.microsoft.com/office/drawing/2014/main" id="{7C97957F-3DAA-947F-9CFE-9CBFE7C1294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CE705AE-EB29-99F1-D218-BB08B76C6567}"/>
              </a:ext>
            </a:extLst>
          </p:cNvPr>
          <p:cNvSpPr>
            <a:spLocks noGrp="1"/>
          </p:cNvSpPr>
          <p:nvPr>
            <p:ph type="sldNum" sz="quarter" idx="12"/>
          </p:nvPr>
        </p:nvSpPr>
        <p:spPr/>
        <p:txBody>
          <a:bodyPr/>
          <a:lstStyle>
            <a:lvl1pPr>
              <a:defRPr/>
            </a:lvl1pPr>
          </a:lstStyle>
          <a:p>
            <a:pPr>
              <a:defRPr/>
            </a:pPr>
            <a:fld id="{9B9055DA-0BF1-4A61-AC47-988CCA178BBA}" type="slidenum">
              <a:rPr lang="en-US"/>
              <a:pPr>
                <a:defRPr/>
              </a:pPr>
              <a:t>‹#›</a:t>
            </a:fld>
            <a:endParaRPr lang="en-US"/>
          </a:p>
        </p:txBody>
      </p:sp>
    </p:spTree>
    <p:extLst>
      <p:ext uri="{BB962C8B-B14F-4D97-AF65-F5344CB8AC3E}">
        <p14:creationId xmlns:p14="http://schemas.microsoft.com/office/powerpoint/2010/main" val="1985113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9CAE5096-133D-2F9B-7D32-802034A4A367}"/>
              </a:ext>
            </a:extLst>
          </p:cNvPr>
          <p:cNvSpPr>
            <a:spLocks noGrp="1"/>
          </p:cNvSpPr>
          <p:nvPr>
            <p:ph type="dt" sz="half" idx="10"/>
          </p:nvPr>
        </p:nvSpPr>
        <p:spPr/>
        <p:txBody>
          <a:bodyPr/>
          <a:lstStyle>
            <a:lvl1pPr>
              <a:defRPr/>
            </a:lvl1pPr>
          </a:lstStyle>
          <a:p>
            <a:pPr>
              <a:defRPr/>
            </a:pPr>
            <a:fld id="{A1CC1F5C-D46F-4200-B419-50C3D3AD674D}" type="datetimeFigureOut">
              <a:rPr lang="en-US"/>
              <a:pPr>
                <a:defRPr/>
              </a:pPr>
              <a:t>2/26/2026</a:t>
            </a:fld>
            <a:endParaRPr lang="en-US"/>
          </a:p>
        </p:txBody>
      </p:sp>
      <p:sp>
        <p:nvSpPr>
          <p:cNvPr id="6" name="Footer Placeholder 4">
            <a:extLst>
              <a:ext uri="{FF2B5EF4-FFF2-40B4-BE49-F238E27FC236}">
                <a16:creationId xmlns:a16="http://schemas.microsoft.com/office/drawing/2014/main" id="{D80E3F96-403A-D616-CCB8-FD8506C86F3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414612D-E8DC-4C4B-88D7-D77A33D05D0E}"/>
              </a:ext>
            </a:extLst>
          </p:cNvPr>
          <p:cNvSpPr>
            <a:spLocks noGrp="1"/>
          </p:cNvSpPr>
          <p:nvPr>
            <p:ph type="sldNum" sz="quarter" idx="12"/>
          </p:nvPr>
        </p:nvSpPr>
        <p:spPr/>
        <p:txBody>
          <a:bodyPr/>
          <a:lstStyle>
            <a:lvl1pPr>
              <a:defRPr/>
            </a:lvl1pPr>
          </a:lstStyle>
          <a:p>
            <a:pPr>
              <a:defRPr/>
            </a:pPr>
            <a:fld id="{593BC0F6-21F9-4482-A703-9B99970166AE}" type="slidenum">
              <a:rPr lang="en-US"/>
              <a:pPr>
                <a:defRPr/>
              </a:pPr>
              <a:t>‹#›</a:t>
            </a:fld>
            <a:endParaRPr lang="en-US"/>
          </a:p>
        </p:txBody>
      </p:sp>
    </p:spTree>
    <p:extLst>
      <p:ext uri="{BB962C8B-B14F-4D97-AF65-F5344CB8AC3E}">
        <p14:creationId xmlns:p14="http://schemas.microsoft.com/office/powerpoint/2010/main" val="2470533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83AE247-A71E-1EF0-BAFB-C5C915D2EB0F}"/>
              </a:ext>
            </a:extLst>
          </p:cNvPr>
          <p:cNvSpPr>
            <a:spLocks noGrp="1"/>
          </p:cNvSpPr>
          <p:nvPr>
            <p:ph type="dt" sz="half" idx="10"/>
          </p:nvPr>
        </p:nvSpPr>
        <p:spPr/>
        <p:txBody>
          <a:bodyPr/>
          <a:lstStyle>
            <a:lvl1pPr>
              <a:defRPr/>
            </a:lvl1pPr>
          </a:lstStyle>
          <a:p>
            <a:pPr>
              <a:defRPr/>
            </a:pPr>
            <a:fld id="{08D2A7BF-1836-4228-940E-8EE987DC5A1C}" type="datetimeFigureOut">
              <a:rPr lang="en-US"/>
              <a:pPr>
                <a:defRPr/>
              </a:pPr>
              <a:t>2/26/2026</a:t>
            </a:fld>
            <a:endParaRPr lang="en-US"/>
          </a:p>
        </p:txBody>
      </p:sp>
      <p:sp>
        <p:nvSpPr>
          <p:cNvPr id="8" name="Footer Placeholder 4">
            <a:extLst>
              <a:ext uri="{FF2B5EF4-FFF2-40B4-BE49-F238E27FC236}">
                <a16:creationId xmlns:a16="http://schemas.microsoft.com/office/drawing/2014/main" id="{A1FB76B7-99A1-2C39-88F7-346FC41217F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AF4D9561-3FFD-EB7E-D501-4C867D9AC045}"/>
              </a:ext>
            </a:extLst>
          </p:cNvPr>
          <p:cNvSpPr>
            <a:spLocks noGrp="1"/>
          </p:cNvSpPr>
          <p:nvPr>
            <p:ph type="sldNum" sz="quarter" idx="12"/>
          </p:nvPr>
        </p:nvSpPr>
        <p:spPr/>
        <p:txBody>
          <a:bodyPr/>
          <a:lstStyle>
            <a:lvl1pPr>
              <a:defRPr/>
            </a:lvl1pPr>
          </a:lstStyle>
          <a:p>
            <a:pPr>
              <a:defRPr/>
            </a:pPr>
            <a:fld id="{1B524315-993F-4000-8B24-02AB60D3D59B}" type="slidenum">
              <a:rPr lang="en-US"/>
              <a:pPr>
                <a:defRPr/>
              </a:pPr>
              <a:t>‹#›</a:t>
            </a:fld>
            <a:endParaRPr lang="en-US"/>
          </a:p>
        </p:txBody>
      </p:sp>
    </p:spTree>
    <p:extLst>
      <p:ext uri="{BB962C8B-B14F-4D97-AF65-F5344CB8AC3E}">
        <p14:creationId xmlns:p14="http://schemas.microsoft.com/office/powerpoint/2010/main" val="1766022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92FFF75-AB28-6DEE-30DA-6C56931B5644}"/>
              </a:ext>
            </a:extLst>
          </p:cNvPr>
          <p:cNvSpPr>
            <a:spLocks noGrp="1"/>
          </p:cNvSpPr>
          <p:nvPr>
            <p:ph type="dt" sz="half" idx="10"/>
          </p:nvPr>
        </p:nvSpPr>
        <p:spPr/>
        <p:txBody>
          <a:bodyPr/>
          <a:lstStyle>
            <a:lvl1pPr>
              <a:defRPr/>
            </a:lvl1pPr>
          </a:lstStyle>
          <a:p>
            <a:pPr>
              <a:defRPr/>
            </a:pPr>
            <a:fld id="{78D61D0E-A3D9-4CA5-A60D-C877D310FE6F}" type="datetimeFigureOut">
              <a:rPr lang="en-US"/>
              <a:pPr>
                <a:defRPr/>
              </a:pPr>
              <a:t>2/26/2026</a:t>
            </a:fld>
            <a:endParaRPr lang="en-US"/>
          </a:p>
        </p:txBody>
      </p:sp>
      <p:sp>
        <p:nvSpPr>
          <p:cNvPr id="4" name="Footer Placeholder 4">
            <a:extLst>
              <a:ext uri="{FF2B5EF4-FFF2-40B4-BE49-F238E27FC236}">
                <a16:creationId xmlns:a16="http://schemas.microsoft.com/office/drawing/2014/main" id="{F256C01D-917A-4C73-7095-BFF74F60BD9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A4332D0-7F86-16EA-9F6A-22D2A4C375DD}"/>
              </a:ext>
            </a:extLst>
          </p:cNvPr>
          <p:cNvSpPr>
            <a:spLocks noGrp="1"/>
          </p:cNvSpPr>
          <p:nvPr>
            <p:ph type="sldNum" sz="quarter" idx="12"/>
          </p:nvPr>
        </p:nvSpPr>
        <p:spPr/>
        <p:txBody>
          <a:bodyPr/>
          <a:lstStyle>
            <a:lvl1pPr>
              <a:defRPr/>
            </a:lvl1pPr>
          </a:lstStyle>
          <a:p>
            <a:pPr>
              <a:defRPr/>
            </a:pPr>
            <a:fld id="{27B3631E-4990-4AD8-831A-BBDBE8AAABFB}" type="slidenum">
              <a:rPr lang="en-US"/>
              <a:pPr>
                <a:defRPr/>
              </a:pPr>
              <a:t>‹#›</a:t>
            </a:fld>
            <a:endParaRPr lang="en-US"/>
          </a:p>
        </p:txBody>
      </p:sp>
    </p:spTree>
    <p:extLst>
      <p:ext uri="{BB962C8B-B14F-4D97-AF65-F5344CB8AC3E}">
        <p14:creationId xmlns:p14="http://schemas.microsoft.com/office/powerpoint/2010/main" val="2405621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F108F96-F322-CDC0-8DC6-7C99B59D0353}"/>
              </a:ext>
            </a:extLst>
          </p:cNvPr>
          <p:cNvSpPr>
            <a:spLocks noGrp="1"/>
          </p:cNvSpPr>
          <p:nvPr>
            <p:ph type="dt" sz="half" idx="10"/>
          </p:nvPr>
        </p:nvSpPr>
        <p:spPr/>
        <p:txBody>
          <a:bodyPr/>
          <a:lstStyle>
            <a:lvl1pPr>
              <a:defRPr/>
            </a:lvl1pPr>
          </a:lstStyle>
          <a:p>
            <a:pPr>
              <a:defRPr/>
            </a:pPr>
            <a:fld id="{C14D5455-A7C3-4FF9-AF87-B92D95E00857}" type="datetimeFigureOut">
              <a:rPr lang="en-US"/>
              <a:pPr>
                <a:defRPr/>
              </a:pPr>
              <a:t>2/26/2026</a:t>
            </a:fld>
            <a:endParaRPr lang="en-US"/>
          </a:p>
        </p:txBody>
      </p:sp>
      <p:sp>
        <p:nvSpPr>
          <p:cNvPr id="3" name="Footer Placeholder 4">
            <a:extLst>
              <a:ext uri="{FF2B5EF4-FFF2-40B4-BE49-F238E27FC236}">
                <a16:creationId xmlns:a16="http://schemas.microsoft.com/office/drawing/2014/main" id="{E43D6972-7320-8C09-92B0-50A440EA7C0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5F54A54-1BED-2E8B-897A-3CB192F403F8}"/>
              </a:ext>
            </a:extLst>
          </p:cNvPr>
          <p:cNvSpPr>
            <a:spLocks noGrp="1"/>
          </p:cNvSpPr>
          <p:nvPr>
            <p:ph type="sldNum" sz="quarter" idx="12"/>
          </p:nvPr>
        </p:nvSpPr>
        <p:spPr/>
        <p:txBody>
          <a:bodyPr/>
          <a:lstStyle>
            <a:lvl1pPr>
              <a:defRPr/>
            </a:lvl1pPr>
          </a:lstStyle>
          <a:p>
            <a:pPr>
              <a:defRPr/>
            </a:pPr>
            <a:fld id="{715A9155-E67A-4121-803C-7DBCAC569A59}" type="slidenum">
              <a:rPr lang="en-US"/>
              <a:pPr>
                <a:defRPr/>
              </a:pPr>
              <a:t>‹#›</a:t>
            </a:fld>
            <a:endParaRPr lang="en-US"/>
          </a:p>
        </p:txBody>
      </p:sp>
    </p:spTree>
    <p:extLst>
      <p:ext uri="{BB962C8B-B14F-4D97-AF65-F5344CB8AC3E}">
        <p14:creationId xmlns:p14="http://schemas.microsoft.com/office/powerpoint/2010/main" val="2368993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FE2E6384-CAB4-6CEB-9081-870466E1C7F3}"/>
              </a:ext>
            </a:extLst>
          </p:cNvPr>
          <p:cNvSpPr>
            <a:spLocks noGrp="1"/>
          </p:cNvSpPr>
          <p:nvPr>
            <p:ph type="dt" sz="half" idx="10"/>
          </p:nvPr>
        </p:nvSpPr>
        <p:spPr/>
        <p:txBody>
          <a:bodyPr/>
          <a:lstStyle>
            <a:lvl1pPr>
              <a:defRPr/>
            </a:lvl1pPr>
          </a:lstStyle>
          <a:p>
            <a:pPr>
              <a:defRPr/>
            </a:pPr>
            <a:fld id="{FA2C40EA-7377-42E3-953B-1009CDC86F11}" type="datetimeFigureOut">
              <a:rPr lang="en-US"/>
              <a:pPr>
                <a:defRPr/>
              </a:pPr>
              <a:t>2/26/2026</a:t>
            </a:fld>
            <a:endParaRPr lang="en-US"/>
          </a:p>
        </p:txBody>
      </p:sp>
      <p:sp>
        <p:nvSpPr>
          <p:cNvPr id="6" name="Footer Placeholder 4">
            <a:extLst>
              <a:ext uri="{FF2B5EF4-FFF2-40B4-BE49-F238E27FC236}">
                <a16:creationId xmlns:a16="http://schemas.microsoft.com/office/drawing/2014/main" id="{A0CB1A33-F4EC-73BB-8313-3624DC0D13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3158A19-02D6-7CD2-1523-C189D2E9FB6E}"/>
              </a:ext>
            </a:extLst>
          </p:cNvPr>
          <p:cNvSpPr>
            <a:spLocks noGrp="1"/>
          </p:cNvSpPr>
          <p:nvPr>
            <p:ph type="sldNum" sz="quarter" idx="12"/>
          </p:nvPr>
        </p:nvSpPr>
        <p:spPr/>
        <p:txBody>
          <a:bodyPr/>
          <a:lstStyle>
            <a:lvl1pPr>
              <a:defRPr/>
            </a:lvl1pPr>
          </a:lstStyle>
          <a:p>
            <a:pPr>
              <a:defRPr/>
            </a:pPr>
            <a:fld id="{5C968632-6B28-41B2-976F-51592997BDBE}" type="slidenum">
              <a:rPr lang="en-US"/>
              <a:pPr>
                <a:defRPr/>
              </a:pPr>
              <a:t>‹#›</a:t>
            </a:fld>
            <a:endParaRPr lang="en-US"/>
          </a:p>
        </p:txBody>
      </p:sp>
    </p:spTree>
    <p:extLst>
      <p:ext uri="{BB962C8B-B14F-4D97-AF65-F5344CB8AC3E}">
        <p14:creationId xmlns:p14="http://schemas.microsoft.com/office/powerpoint/2010/main" val="428537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02404BE2-74B5-8F80-5FF4-CAFD114931C7}"/>
              </a:ext>
            </a:extLst>
          </p:cNvPr>
          <p:cNvSpPr>
            <a:spLocks noGrp="1"/>
          </p:cNvSpPr>
          <p:nvPr>
            <p:ph type="dt" sz="half" idx="10"/>
          </p:nvPr>
        </p:nvSpPr>
        <p:spPr/>
        <p:txBody>
          <a:bodyPr/>
          <a:lstStyle>
            <a:lvl1pPr>
              <a:defRPr/>
            </a:lvl1pPr>
          </a:lstStyle>
          <a:p>
            <a:pPr>
              <a:defRPr/>
            </a:pPr>
            <a:fld id="{3541E22A-20F6-40D4-9B96-48C031B3073D}" type="datetimeFigureOut">
              <a:rPr lang="en-US"/>
              <a:pPr>
                <a:defRPr/>
              </a:pPr>
              <a:t>2/26/2026</a:t>
            </a:fld>
            <a:endParaRPr lang="en-US"/>
          </a:p>
        </p:txBody>
      </p:sp>
      <p:sp>
        <p:nvSpPr>
          <p:cNvPr id="6" name="Footer Placeholder 4">
            <a:extLst>
              <a:ext uri="{FF2B5EF4-FFF2-40B4-BE49-F238E27FC236}">
                <a16:creationId xmlns:a16="http://schemas.microsoft.com/office/drawing/2014/main" id="{2C17BBA7-2D48-B1C8-5A03-7EB12EFB17F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34810D6-CC6D-3DC8-4CBD-32596711D20D}"/>
              </a:ext>
            </a:extLst>
          </p:cNvPr>
          <p:cNvSpPr>
            <a:spLocks noGrp="1"/>
          </p:cNvSpPr>
          <p:nvPr>
            <p:ph type="sldNum" sz="quarter" idx="12"/>
          </p:nvPr>
        </p:nvSpPr>
        <p:spPr/>
        <p:txBody>
          <a:bodyPr/>
          <a:lstStyle>
            <a:lvl1pPr>
              <a:defRPr/>
            </a:lvl1pPr>
          </a:lstStyle>
          <a:p>
            <a:pPr>
              <a:defRPr/>
            </a:pPr>
            <a:fld id="{B69FC290-746E-466B-924E-BAACE2620082}" type="slidenum">
              <a:rPr lang="en-US"/>
              <a:pPr>
                <a:defRPr/>
              </a:pPr>
              <a:t>‹#›</a:t>
            </a:fld>
            <a:endParaRPr lang="en-US"/>
          </a:p>
        </p:txBody>
      </p:sp>
    </p:spTree>
    <p:extLst>
      <p:ext uri="{BB962C8B-B14F-4D97-AF65-F5344CB8AC3E}">
        <p14:creationId xmlns:p14="http://schemas.microsoft.com/office/powerpoint/2010/main" val="3542201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9A3653-ED97-0EC6-3B31-AC11B1868E67}"/>
              </a:ext>
            </a:extLst>
          </p:cNvPr>
          <p:cNvSpPr>
            <a:spLocks noGrp="1"/>
          </p:cNvSpPr>
          <p:nvPr>
            <p:ph type="dt" sz="half" idx="10"/>
          </p:nvPr>
        </p:nvSpPr>
        <p:spPr/>
        <p:txBody>
          <a:bodyPr/>
          <a:lstStyle>
            <a:lvl1pPr>
              <a:defRPr/>
            </a:lvl1pPr>
          </a:lstStyle>
          <a:p>
            <a:pPr>
              <a:defRPr/>
            </a:pPr>
            <a:fld id="{BF472624-8EF5-47AF-A903-D006C525B402}" type="datetimeFigureOut">
              <a:rPr lang="en-US"/>
              <a:pPr>
                <a:defRPr/>
              </a:pPr>
              <a:t>2/26/2026</a:t>
            </a:fld>
            <a:endParaRPr lang="en-US"/>
          </a:p>
        </p:txBody>
      </p:sp>
      <p:sp>
        <p:nvSpPr>
          <p:cNvPr id="5" name="Footer Placeholder 4">
            <a:extLst>
              <a:ext uri="{FF2B5EF4-FFF2-40B4-BE49-F238E27FC236}">
                <a16:creationId xmlns:a16="http://schemas.microsoft.com/office/drawing/2014/main" id="{9423646D-4EBE-35B7-8D93-9C881F0544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535CFD-C78D-351F-477D-667ABB94859F}"/>
              </a:ext>
            </a:extLst>
          </p:cNvPr>
          <p:cNvSpPr>
            <a:spLocks noGrp="1"/>
          </p:cNvSpPr>
          <p:nvPr>
            <p:ph type="sldNum" sz="quarter" idx="12"/>
          </p:nvPr>
        </p:nvSpPr>
        <p:spPr/>
        <p:txBody>
          <a:bodyPr/>
          <a:lstStyle>
            <a:lvl1pPr>
              <a:defRPr/>
            </a:lvl1pPr>
          </a:lstStyle>
          <a:p>
            <a:pPr>
              <a:defRPr/>
            </a:pPr>
            <a:fld id="{5C630BE6-C21C-490F-B04D-3DA6D07E92BE}" type="slidenum">
              <a:rPr lang="en-US"/>
              <a:pPr>
                <a:defRPr/>
              </a:pPr>
              <a:t>‹#›</a:t>
            </a:fld>
            <a:endParaRPr lang="en-US"/>
          </a:p>
        </p:txBody>
      </p:sp>
    </p:spTree>
    <p:extLst>
      <p:ext uri="{BB962C8B-B14F-4D97-AF65-F5344CB8AC3E}">
        <p14:creationId xmlns:p14="http://schemas.microsoft.com/office/powerpoint/2010/main" val="24649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BA2B5-ECC5-D89E-A7E1-08E7BD934285}"/>
              </a:ext>
            </a:extLst>
          </p:cNvPr>
          <p:cNvSpPr>
            <a:spLocks noGrp="1"/>
          </p:cNvSpPr>
          <p:nvPr>
            <p:ph type="dt" sz="half" idx="10"/>
          </p:nvPr>
        </p:nvSpPr>
        <p:spPr/>
        <p:txBody>
          <a:bodyPr/>
          <a:lstStyle>
            <a:lvl1pPr>
              <a:defRPr/>
            </a:lvl1pPr>
          </a:lstStyle>
          <a:p>
            <a:pPr>
              <a:defRPr/>
            </a:pPr>
            <a:fld id="{B41757CA-5D4C-4196-B7B1-69C82A6796E0}" type="datetimeFigureOut">
              <a:rPr lang="en-US"/>
              <a:pPr>
                <a:defRPr/>
              </a:pPr>
              <a:t>2/26/2026</a:t>
            </a:fld>
            <a:endParaRPr lang="en-US"/>
          </a:p>
        </p:txBody>
      </p:sp>
      <p:sp>
        <p:nvSpPr>
          <p:cNvPr id="5" name="Footer Placeholder 4">
            <a:extLst>
              <a:ext uri="{FF2B5EF4-FFF2-40B4-BE49-F238E27FC236}">
                <a16:creationId xmlns:a16="http://schemas.microsoft.com/office/drawing/2014/main" id="{6A87F035-7D07-7FEF-8937-A055BEBED58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B9132B0-6DAD-18BA-69B4-BCEE56820ADE}"/>
              </a:ext>
            </a:extLst>
          </p:cNvPr>
          <p:cNvSpPr>
            <a:spLocks noGrp="1"/>
          </p:cNvSpPr>
          <p:nvPr>
            <p:ph type="sldNum" sz="quarter" idx="12"/>
          </p:nvPr>
        </p:nvSpPr>
        <p:spPr/>
        <p:txBody>
          <a:bodyPr/>
          <a:lstStyle>
            <a:lvl1pPr>
              <a:defRPr/>
            </a:lvl1pPr>
          </a:lstStyle>
          <a:p>
            <a:pPr>
              <a:defRPr/>
            </a:pPr>
            <a:fld id="{AD8D1C0B-A7F0-430E-8A2D-EEED4C29C8AF}" type="slidenum">
              <a:rPr lang="en-US"/>
              <a:pPr>
                <a:defRPr/>
              </a:pPr>
              <a:t>‹#›</a:t>
            </a:fld>
            <a:endParaRPr lang="en-US"/>
          </a:p>
        </p:txBody>
      </p:sp>
    </p:spTree>
    <p:extLst>
      <p:ext uri="{BB962C8B-B14F-4D97-AF65-F5344CB8AC3E}">
        <p14:creationId xmlns:p14="http://schemas.microsoft.com/office/powerpoint/2010/main" val="264535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DB6CD9E-885E-6E62-4FA1-DE6AD199618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DE53F10-2D73-F219-82FA-621D2FD6F00F}"/>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04488E8-3CE6-72B1-DC24-0617881470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C2089811-645F-470B-97F0-A158F4D46A38}" type="datetimeFigureOut">
              <a:rPr lang="en-US"/>
              <a:pPr>
                <a:defRPr/>
              </a:pPr>
              <a:t>2/26/2026</a:t>
            </a:fld>
            <a:endParaRPr lang="en-US"/>
          </a:p>
        </p:txBody>
      </p:sp>
      <p:sp>
        <p:nvSpPr>
          <p:cNvPr id="5" name="Footer Placeholder 4">
            <a:extLst>
              <a:ext uri="{FF2B5EF4-FFF2-40B4-BE49-F238E27FC236}">
                <a16:creationId xmlns:a16="http://schemas.microsoft.com/office/drawing/2014/main" id="{CA517E0B-8107-732C-9F26-1B28E6D7B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55D7F3E9-6312-9DA8-5E6B-61C0F39601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65BF62F5-061F-47A5-A181-083BF33143A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2">
            <a:extLst>
              <a:ext uri="{FF2B5EF4-FFF2-40B4-BE49-F238E27FC236}">
                <a16:creationId xmlns:a16="http://schemas.microsoft.com/office/drawing/2014/main" id="{25F93D55-4E90-5A38-E852-7CE5B6C9C078}"/>
              </a:ext>
            </a:extLst>
          </p:cNvPr>
          <p:cNvSpPr>
            <a:spLocks noGrp="1" noChangeArrowheads="1"/>
          </p:cNvSpPr>
          <p:nvPr>
            <p:ph type="ctrTitle"/>
          </p:nvPr>
        </p:nvSpPr>
        <p:spPr>
          <a:xfrm>
            <a:off x="466725" y="604224"/>
            <a:ext cx="11258550" cy="1574800"/>
          </a:xfrm>
        </p:spPr>
        <p:txBody>
          <a:bodyPr anchor="ctr"/>
          <a:lstStyle/>
          <a:p>
            <a:pPr marL="0" indent="0">
              <a:lnSpc>
                <a:spcPts val="5550"/>
              </a:lnSpc>
              <a:buNone/>
            </a:pPr>
            <a:r>
              <a:rPr lang="en-US" sz="4400" dirty="0">
                <a:solidFill>
                  <a:srgbClr val="152D47"/>
                </a:solidFill>
                <a:latin typeface="Times New Roman" panose="02020603050405020304" pitchFamily="18" charset="0"/>
                <a:ea typeface="Crimson Pro Semi Bold" pitchFamily="34" charset="-122"/>
                <a:cs typeface="Times New Roman" panose="02020603050405020304" pitchFamily="18" charset="0"/>
              </a:rPr>
              <a:t>An Efficient Intrusion Detection System using Advanced Machine Learning Techniques for Healthcare System</a:t>
            </a:r>
            <a:endParaRPr lang="en-US" sz="4400" dirty="0">
              <a:latin typeface="Times New Roman" panose="02020603050405020304" pitchFamily="18" charset="0"/>
              <a:cs typeface="Times New Roman" panose="02020603050405020304" pitchFamily="18" charset="0"/>
            </a:endParaRPr>
          </a:p>
        </p:txBody>
      </p:sp>
      <p:sp>
        <p:nvSpPr>
          <p:cNvPr id="3075" name="Subtitle 3">
            <a:extLst>
              <a:ext uri="{FF2B5EF4-FFF2-40B4-BE49-F238E27FC236}">
                <a16:creationId xmlns:a16="http://schemas.microsoft.com/office/drawing/2014/main" id="{316E6A4B-407E-5D8E-2A94-4CEEB3C3365D}"/>
              </a:ext>
            </a:extLst>
          </p:cNvPr>
          <p:cNvSpPr>
            <a:spLocks noGrp="1" noChangeArrowheads="1"/>
          </p:cNvSpPr>
          <p:nvPr>
            <p:ph type="subTitle" idx="1"/>
          </p:nvPr>
        </p:nvSpPr>
        <p:spPr>
          <a:xfrm>
            <a:off x="1386348" y="2851510"/>
            <a:ext cx="9144000" cy="2051050"/>
          </a:xfrm>
        </p:spPr>
        <p:txBody>
          <a:bodyPr anchor="ctr"/>
          <a:lstStyle/>
          <a:p>
            <a:r>
              <a:rPr lang="pt-BR" altLang="en-US" sz="2000" dirty="0">
                <a:latin typeface="Times New Roman" panose="02020603050405020304" pitchFamily="18" charset="0"/>
                <a:cs typeface="Times New Roman" panose="02020603050405020304" pitchFamily="18" charset="0"/>
              </a:rPr>
              <a:t>23B81A62E6-V KOUSHIK</a:t>
            </a:r>
          </a:p>
          <a:p>
            <a:r>
              <a:rPr lang="pt-BR" altLang="en-US" sz="2000" dirty="0">
                <a:latin typeface="Times New Roman" panose="02020603050405020304" pitchFamily="18" charset="0"/>
                <a:cs typeface="Times New Roman" panose="02020603050405020304" pitchFamily="18" charset="0"/>
              </a:rPr>
              <a:t>23B81A62F5-R NILESH</a:t>
            </a:r>
          </a:p>
          <a:p>
            <a:r>
              <a:rPr lang="pt-BR" altLang="en-US" sz="2000" dirty="0">
                <a:latin typeface="Times New Roman" panose="02020603050405020304" pitchFamily="18" charset="0"/>
                <a:cs typeface="Times New Roman" panose="02020603050405020304" pitchFamily="18" charset="0"/>
              </a:rPr>
              <a:t>23B81A62G4-KRISHNA PRASAD</a:t>
            </a:r>
          </a:p>
        </p:txBody>
      </p:sp>
      <p:sp>
        <p:nvSpPr>
          <p:cNvPr id="3" name="TextBox 2">
            <a:extLst>
              <a:ext uri="{FF2B5EF4-FFF2-40B4-BE49-F238E27FC236}">
                <a16:creationId xmlns:a16="http://schemas.microsoft.com/office/drawing/2014/main" id="{F17081B4-C13C-2AFE-23D7-F762F6887C7E}"/>
              </a:ext>
            </a:extLst>
          </p:cNvPr>
          <p:cNvSpPr txBox="1"/>
          <p:nvPr/>
        </p:nvSpPr>
        <p:spPr>
          <a:xfrm>
            <a:off x="2910348" y="4593811"/>
            <a:ext cx="6096000" cy="400110"/>
          </a:xfrm>
          <a:prstGeom prst="rect">
            <a:avLst/>
          </a:prstGeom>
          <a:noFill/>
        </p:spPr>
        <p:txBody>
          <a:bodyPr wrap="square">
            <a:spAutoFit/>
          </a:bodyPr>
          <a:lstStyle/>
          <a:p>
            <a:pPr algn="ctr"/>
            <a:r>
              <a:rPr lang="en-GB" sz="2000" b="1" dirty="0">
                <a:latin typeface="Times New Roman" panose="02020603050405020304" pitchFamily="18" charset="0"/>
                <a:cs typeface="Times New Roman" panose="02020603050405020304" pitchFamily="18" charset="0"/>
              </a:rPr>
              <a:t>Guide</a:t>
            </a:r>
            <a:r>
              <a:rPr lang="en-GB" sz="2000" dirty="0">
                <a:latin typeface="Times New Roman" panose="02020603050405020304" pitchFamily="18" charset="0"/>
                <a:cs typeface="Times New Roman" panose="02020603050405020304" pitchFamily="18" charset="0"/>
              </a:rPr>
              <a:t>-Mrs. K Swathi (Assistant Professor)</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9FB1CE5-5486-5B0B-3E94-86F7D2CA5415}"/>
              </a:ext>
            </a:extLst>
          </p:cNvPr>
          <p:cNvSpPr txBox="1"/>
          <p:nvPr/>
        </p:nvSpPr>
        <p:spPr>
          <a:xfrm>
            <a:off x="466725" y="6069110"/>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Date- 27 February 2026</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67F06-0762-084D-09DD-3A0089A510FC}"/>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3B356EE5-46ED-44BD-5F07-E5416A08EAA9}"/>
              </a:ext>
            </a:extLst>
          </p:cNvPr>
          <p:cNvSpPr>
            <a:spLocks noGrp="1" noChangeArrowheads="1"/>
          </p:cNvSpPr>
          <p:nvPr>
            <p:ph type="title"/>
          </p:nvPr>
        </p:nvSpPr>
        <p:spPr>
          <a:xfrm>
            <a:off x="132080" y="-83723"/>
            <a:ext cx="10515600" cy="1325563"/>
          </a:xfrm>
        </p:spPr>
        <p:txBody>
          <a:bodyPr/>
          <a:lstStyle/>
          <a:p>
            <a:r>
              <a:rPr lang="en-US" altLang="en-US" dirty="0">
                <a:latin typeface="Times New Roman" panose="02020603050405020304" pitchFamily="18" charset="0"/>
                <a:cs typeface="Times New Roman" panose="02020603050405020304" pitchFamily="18" charset="0"/>
              </a:rPr>
              <a:t>Abstract</a:t>
            </a:r>
          </a:p>
        </p:txBody>
      </p:sp>
      <p:sp>
        <p:nvSpPr>
          <p:cNvPr id="4099" name="Content Placeholder 2">
            <a:extLst>
              <a:ext uri="{FF2B5EF4-FFF2-40B4-BE49-F238E27FC236}">
                <a16:creationId xmlns:a16="http://schemas.microsoft.com/office/drawing/2014/main" id="{8755771F-D8BA-2C7B-D3B0-796FB17B2406}"/>
              </a:ext>
            </a:extLst>
          </p:cNvPr>
          <p:cNvSpPr>
            <a:spLocks noGrp="1" noChangeArrowheads="1"/>
          </p:cNvSpPr>
          <p:nvPr>
            <p:ph idx="1"/>
          </p:nvPr>
        </p:nvSpPr>
        <p:spPr>
          <a:xfrm>
            <a:off x="427893" y="1132302"/>
            <a:ext cx="10515600" cy="4351338"/>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Network intrusion attacks such as DDoS, infiltration, web attacks, and port scans pose serious threats to healthcare networks. These attacks can disrupt critical services and compromise sensitive patient data. Existing intrusion detection systems suffer from high false positives due to limited detection strategies or inability to detect zero-day attacks without prior signatures. To overcome these issues, this project proposes an efficient cascaded hybrid intrusion detection system using deep learning and ensemble machine learning techniques. A deep autoencoder is employed for unsupervised anomaly detection through reconstruction error analysis, trained exclusively on benign traffic to detect novel threats. An Isolation Forest provides complementary anomaly scoring through isolation-based statistical modeling. Both Stage 1 detectors are fused using weighted score combination with dynamic percentile thresholding to achieve high recall. Stage 2 applies a Random Forest classifier on suspicious samples to reduce false alarms and provide precise attack-type classification. The proposed cascaded architecture leverages both unsupervised zero-day detection and supervised refinement advantages. Experimental results demonstrate healthcare-grade performance with false positive rates below 5% and recall exceeding 90%, making the system suitable for production deployment in critical infrastructure environments.</a:t>
            </a:r>
            <a:endParaRPr lang="en-US" sz="18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0187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F1D8620-C263-4287-C5EB-414C4B51C6E7}"/>
              </a:ext>
            </a:extLst>
          </p:cNvPr>
          <p:cNvSpPr>
            <a:spLocks noGrp="1" noChangeArrowheads="1"/>
          </p:cNvSpPr>
          <p:nvPr>
            <p:ph type="title"/>
          </p:nvPr>
        </p:nvSpPr>
        <p:spPr>
          <a:xfrm>
            <a:off x="132080" y="-83723"/>
            <a:ext cx="10515600" cy="1325563"/>
          </a:xfrm>
        </p:spPr>
        <p:txBody>
          <a:bodyPr/>
          <a:lstStyle/>
          <a:p>
            <a:r>
              <a:rPr lang="en-US" altLang="en-US" dirty="0">
                <a:latin typeface="Times New Roman" panose="02020603050405020304" pitchFamily="18" charset="0"/>
                <a:cs typeface="Times New Roman" panose="02020603050405020304" pitchFamily="18" charset="0"/>
              </a:rPr>
              <a:t>Introduction</a:t>
            </a:r>
          </a:p>
        </p:txBody>
      </p:sp>
      <p:sp>
        <p:nvSpPr>
          <p:cNvPr id="5" name="Content Placeholder 2">
            <a:extLst>
              <a:ext uri="{FF2B5EF4-FFF2-40B4-BE49-F238E27FC236}">
                <a16:creationId xmlns:a16="http://schemas.microsoft.com/office/drawing/2014/main" id="{0E153C11-C09C-E441-58B9-00374BECDF84}"/>
              </a:ext>
            </a:extLst>
          </p:cNvPr>
          <p:cNvSpPr txBox="1">
            <a:spLocks noChangeArrowheads="1"/>
          </p:cNvSpPr>
          <p:nvPr/>
        </p:nvSpPr>
        <p:spPr bwMode="auto">
          <a:xfrm>
            <a:off x="418060" y="1253331"/>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00000"/>
              </a:lnSpc>
            </a:pPr>
            <a:r>
              <a:rPr lang="en-US" sz="1800" dirty="0">
                <a:latin typeface="Times New Roman" panose="02020603050405020304" pitchFamily="18" charset="0"/>
                <a:cs typeface="Times New Roman" panose="02020603050405020304" pitchFamily="18" charset="0"/>
              </a:rPr>
              <a:t>Network security breaches cost organizations billions annually Zero-day exploits and novel attack patterns evade signature-based detection </a:t>
            </a:r>
          </a:p>
          <a:p>
            <a:pPr algn="just" eaLnBrk="1" hangingPunct="1">
              <a:lnSpc>
                <a:spcPct val="100000"/>
              </a:lnSpc>
            </a:pPr>
            <a:r>
              <a:rPr lang="en-US" sz="1800" dirty="0">
                <a:latin typeface="Times New Roman" panose="02020603050405020304" pitchFamily="18" charset="0"/>
                <a:cs typeface="Times New Roman" panose="02020603050405020304" pitchFamily="18" charset="0"/>
              </a:rPr>
              <a:t>Need for adaptive, real-time anomaly detection systems that work on unseen attack types </a:t>
            </a:r>
          </a:p>
          <a:p>
            <a:pPr algn="just" eaLnBrk="1" hangingPunct="1">
              <a:lnSpc>
                <a:spcPct val="100000"/>
              </a:lnSpc>
            </a:pPr>
            <a:r>
              <a:rPr lang="en-US" sz="1800" dirty="0">
                <a:latin typeface="Times New Roman" panose="02020603050405020304" pitchFamily="18" charset="0"/>
                <a:cs typeface="Times New Roman" panose="02020603050405020304" pitchFamily="18" charset="0"/>
              </a:rPr>
              <a:t>Traditional rule-based IDS systems are reactive; this system is proactive Key </a:t>
            </a:r>
          </a:p>
          <a:p>
            <a:pPr algn="just" eaLnBrk="1" hangingPunct="1">
              <a:lnSpc>
                <a:spcPct val="100000"/>
              </a:lnSpc>
            </a:pPr>
            <a:r>
              <a:rPr lang="en-US" sz="1800" dirty="0">
                <a:latin typeface="Times New Roman" panose="02020603050405020304" pitchFamily="18" charset="0"/>
                <a:cs typeface="Times New Roman" panose="02020603050405020304" pitchFamily="18" charset="0"/>
              </a:rPr>
              <a:t>Problem Addressed: </a:t>
            </a:r>
          </a:p>
          <a:p>
            <a:pPr lvl="1" algn="just" eaLnBrk="1" hangingPunct="1">
              <a:lnSpc>
                <a:spcPct val="100000"/>
              </a:lnSpc>
            </a:pPr>
            <a:r>
              <a:rPr lang="en-US" sz="1800" dirty="0">
                <a:latin typeface="Times New Roman" panose="02020603050405020304" pitchFamily="18" charset="0"/>
                <a:cs typeface="Times New Roman" panose="02020603050405020304" pitchFamily="18" charset="0"/>
              </a:rPr>
              <a:t>High false positive rates in conventional IDS </a:t>
            </a:r>
          </a:p>
          <a:p>
            <a:pPr lvl="1" algn="just" eaLnBrk="1" hangingPunct="1">
              <a:lnSpc>
                <a:spcPct val="100000"/>
              </a:lnSpc>
            </a:pPr>
            <a:r>
              <a:rPr lang="en-US" sz="1800" dirty="0">
                <a:latin typeface="Times New Roman" panose="02020603050405020304" pitchFamily="18" charset="0"/>
                <a:cs typeface="Times New Roman" panose="02020603050405020304" pitchFamily="18" charset="0"/>
              </a:rPr>
              <a:t>Manual feature engineering and rule tuning overhead </a:t>
            </a:r>
          </a:p>
          <a:p>
            <a:pPr lvl="1" algn="just" eaLnBrk="1" hangingPunct="1">
              <a:lnSpc>
                <a:spcPct val="100000"/>
              </a:lnSpc>
            </a:pPr>
            <a:r>
              <a:rPr lang="en-US" sz="1800" dirty="0">
                <a:latin typeface="Times New Roman" panose="02020603050405020304" pitchFamily="18" charset="0"/>
                <a:cs typeface="Times New Roman" panose="02020603050405020304" pitchFamily="18" charset="0"/>
              </a:rPr>
              <a:t>Gap between training data and real-world network traffic</a:t>
            </a:r>
          </a:p>
        </p:txBody>
      </p:sp>
    </p:spTree>
    <p:extLst>
      <p:ext uri="{BB962C8B-B14F-4D97-AF65-F5344CB8AC3E}">
        <p14:creationId xmlns:p14="http://schemas.microsoft.com/office/powerpoint/2010/main" val="2035700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extBox 3"/>
          <p:cNvSpPr txBox="1"/>
          <p:nvPr/>
        </p:nvSpPr>
        <p:spPr>
          <a:xfrm>
            <a:off x="-1127761" y="37923"/>
            <a:ext cx="7707183" cy="830868"/>
          </a:xfrm>
          <a:prstGeom prst="rect">
            <a:avLst/>
          </a:prstGeom>
        </p:spPr>
        <p:txBody>
          <a:bodyPr lIns="0" tIns="0" rIns="0" bIns="0" rtlCol="0" anchor="t">
            <a:spAutoFit/>
          </a:bodyPr>
          <a:lstStyle/>
          <a:p>
            <a:pPr algn="ctr">
              <a:lnSpc>
                <a:spcPts val="7093"/>
              </a:lnSpc>
            </a:pPr>
            <a:r>
              <a:rPr lang="en-US" sz="5066" dirty="0">
                <a:solidFill>
                  <a:srgbClr val="000000"/>
                </a:solidFill>
                <a:latin typeface="Times New Roman" panose="02020603050405020304" pitchFamily="18" charset="0"/>
                <a:ea typeface="Garet Bold"/>
                <a:cs typeface="Times New Roman" panose="02020603050405020304" pitchFamily="18" charset="0"/>
                <a:sym typeface="Garet Bold"/>
              </a:rPr>
              <a:t>Literature Review</a:t>
            </a:r>
          </a:p>
        </p:txBody>
      </p:sp>
      <p:sp>
        <p:nvSpPr>
          <p:cNvPr id="5" name="Rectangle 1">
            <a:extLst>
              <a:ext uri="{FF2B5EF4-FFF2-40B4-BE49-F238E27FC236}">
                <a16:creationId xmlns:a16="http://schemas.microsoft.com/office/drawing/2014/main" id="{952DA3CE-8952-1382-D1E5-43D4D741819F}"/>
              </a:ext>
            </a:extLst>
          </p:cNvPr>
          <p:cNvSpPr>
            <a:spLocks noChangeArrowheads="1"/>
          </p:cNvSpPr>
          <p:nvPr/>
        </p:nvSpPr>
        <p:spPr bwMode="auto">
          <a:xfrm>
            <a:off x="5740710" y="3381980"/>
            <a:ext cx="1231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endParaRPr lang="en-IN"/>
          </a:p>
        </p:txBody>
      </p:sp>
      <p:graphicFrame>
        <p:nvGraphicFramePr>
          <p:cNvPr id="2" name="Table 1">
            <a:extLst>
              <a:ext uri="{FF2B5EF4-FFF2-40B4-BE49-F238E27FC236}">
                <a16:creationId xmlns:a16="http://schemas.microsoft.com/office/drawing/2014/main" id="{ABEC6281-4736-31C2-AF65-A89DFA91C682}"/>
              </a:ext>
            </a:extLst>
          </p:cNvPr>
          <p:cNvGraphicFramePr>
            <a:graphicFrameLocks noGrp="1"/>
          </p:cNvGraphicFramePr>
          <p:nvPr>
            <p:extLst>
              <p:ext uri="{D42A27DB-BD31-4B8C-83A1-F6EECF244321}">
                <p14:modId xmlns:p14="http://schemas.microsoft.com/office/powerpoint/2010/main" val="3774594771"/>
              </p:ext>
            </p:extLst>
          </p:nvPr>
        </p:nvGraphicFramePr>
        <p:xfrm>
          <a:off x="147484" y="868791"/>
          <a:ext cx="11887197" cy="5532008"/>
        </p:xfrm>
        <a:graphic>
          <a:graphicData uri="http://schemas.openxmlformats.org/drawingml/2006/table">
            <a:tbl>
              <a:tblPr/>
              <a:tblGrid>
                <a:gridCol w="1698171">
                  <a:extLst>
                    <a:ext uri="{9D8B030D-6E8A-4147-A177-3AD203B41FA5}">
                      <a16:colId xmlns:a16="http://schemas.microsoft.com/office/drawing/2014/main" val="2464920322"/>
                    </a:ext>
                  </a:extLst>
                </a:gridCol>
                <a:gridCol w="1698171">
                  <a:extLst>
                    <a:ext uri="{9D8B030D-6E8A-4147-A177-3AD203B41FA5}">
                      <a16:colId xmlns:a16="http://schemas.microsoft.com/office/drawing/2014/main" val="240596567"/>
                    </a:ext>
                  </a:extLst>
                </a:gridCol>
                <a:gridCol w="1698171">
                  <a:extLst>
                    <a:ext uri="{9D8B030D-6E8A-4147-A177-3AD203B41FA5}">
                      <a16:colId xmlns:a16="http://schemas.microsoft.com/office/drawing/2014/main" val="870613287"/>
                    </a:ext>
                  </a:extLst>
                </a:gridCol>
                <a:gridCol w="1698171">
                  <a:extLst>
                    <a:ext uri="{9D8B030D-6E8A-4147-A177-3AD203B41FA5}">
                      <a16:colId xmlns:a16="http://schemas.microsoft.com/office/drawing/2014/main" val="366509571"/>
                    </a:ext>
                  </a:extLst>
                </a:gridCol>
                <a:gridCol w="1698171">
                  <a:extLst>
                    <a:ext uri="{9D8B030D-6E8A-4147-A177-3AD203B41FA5}">
                      <a16:colId xmlns:a16="http://schemas.microsoft.com/office/drawing/2014/main" val="2352051324"/>
                    </a:ext>
                  </a:extLst>
                </a:gridCol>
                <a:gridCol w="1698171">
                  <a:extLst>
                    <a:ext uri="{9D8B030D-6E8A-4147-A177-3AD203B41FA5}">
                      <a16:colId xmlns:a16="http://schemas.microsoft.com/office/drawing/2014/main" val="1575515774"/>
                    </a:ext>
                  </a:extLst>
                </a:gridCol>
                <a:gridCol w="1698171">
                  <a:extLst>
                    <a:ext uri="{9D8B030D-6E8A-4147-A177-3AD203B41FA5}">
                      <a16:colId xmlns:a16="http://schemas.microsoft.com/office/drawing/2014/main" val="1077137908"/>
                    </a:ext>
                  </a:extLst>
                </a:gridCol>
              </a:tblGrid>
              <a:tr h="556886">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Authors &amp; Year</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Focus of the Paper</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Key Contributions</a:t>
                      </a:r>
                      <a:endParaRPr lang="en-IN"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Models Used</a:t>
                      </a:r>
                      <a:endParaRPr lang="en-IN"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Dataset(s) Used</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Performance Parameters</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Research Gaps</a:t>
                      </a:r>
                      <a:endParaRPr lang="en-IN"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55237087"/>
                  </a:ext>
                </a:extLst>
              </a:tr>
              <a:tr h="1838633">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S. Khan et al. (2025)</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Optimizing IDS with Random Forest</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Benchmarked a standalone high-accuracy supervised model on modern traffic.</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Random Forest (RF)</a:t>
                      </a:r>
                      <a:endParaRPr lang="en-IN"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CIC-IDS2017</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Accuracy: ~96%</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b="1" dirty="0">
                          <a:solidFill>
                            <a:srgbClr val="1F1F1F"/>
                          </a:solidFill>
                          <a:effectLst/>
                          <a:latin typeface="Times New Roman" panose="02020603050405020304" pitchFamily="18" charset="0"/>
                          <a:cs typeface="Times New Roman" panose="02020603050405020304" pitchFamily="18" charset="0"/>
                        </a:rPr>
                        <a:t>No Zero-Day capability.</a:t>
                      </a:r>
                      <a:r>
                        <a:rPr lang="en-US" sz="1600" dirty="0">
                          <a:solidFill>
                            <a:srgbClr val="1F1F1F"/>
                          </a:solidFill>
                          <a:effectLst/>
                          <a:latin typeface="Times New Roman" panose="02020603050405020304" pitchFamily="18" charset="0"/>
                          <a:cs typeface="Times New Roman" panose="02020603050405020304" pitchFamily="18" charset="0"/>
                        </a:rPr>
                        <a:t> As a purely supervised model, it cannot detect novel threats.</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3725202"/>
                  </a:ext>
                </a:extLst>
              </a:tr>
              <a:tr h="1622322">
                <a:tc>
                  <a:txBody>
                    <a:bodyPr/>
                    <a:lstStyle/>
                    <a:p>
                      <a:pPr algn="l" rtl="0">
                        <a:buNone/>
                      </a:pPr>
                      <a:r>
                        <a:rPr lang="da-DK" sz="1600" b="1">
                          <a:solidFill>
                            <a:srgbClr val="1F1F1F"/>
                          </a:solidFill>
                          <a:effectLst/>
                          <a:latin typeface="Times New Roman" panose="02020603050405020304" pitchFamily="18" charset="0"/>
                          <a:cs typeface="Times New Roman" panose="02020603050405020304" pitchFamily="18" charset="0"/>
                        </a:rPr>
                        <a:t>L. Zhou et al. (2021)</a:t>
                      </a:r>
                      <a:endParaRPr lang="da-DK"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False Positive Reduction via ELM</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Aimed to minimize false alarms in complex network environments.</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b="1" dirty="0">
                          <a:solidFill>
                            <a:srgbClr val="1F1F1F"/>
                          </a:solidFill>
                          <a:effectLst/>
                          <a:latin typeface="Times New Roman" panose="02020603050405020304" pitchFamily="18" charset="0"/>
                          <a:cs typeface="Times New Roman" panose="02020603050405020304" pitchFamily="18" charset="0"/>
                        </a:rPr>
                        <a:t>Extreme Learning Machine (ELM) + HMM</a:t>
                      </a:r>
                      <a:endParaRPr lang="en-US"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CIC-IDS2017</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FPR: &lt; 7%, Recall: ~84%</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b="1" dirty="0">
                          <a:solidFill>
                            <a:srgbClr val="1F1F1F"/>
                          </a:solidFill>
                          <a:effectLst/>
                          <a:latin typeface="Times New Roman" panose="02020603050405020304" pitchFamily="18" charset="0"/>
                          <a:cs typeface="Times New Roman" panose="02020603050405020304" pitchFamily="18" charset="0"/>
                        </a:rPr>
                        <a:t>Low Recall.</a:t>
                      </a:r>
                      <a:r>
                        <a:rPr lang="en-US" sz="1600" dirty="0">
                          <a:solidFill>
                            <a:srgbClr val="1F1F1F"/>
                          </a:solidFill>
                          <a:effectLst/>
                          <a:latin typeface="Times New Roman" panose="02020603050405020304" pitchFamily="18" charset="0"/>
                          <a:cs typeface="Times New Roman" panose="02020603050405020304" pitchFamily="18" charset="0"/>
                        </a:rPr>
                        <a:t> The focus on precision risks missing critical breaches.</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531484"/>
                  </a:ext>
                </a:extLst>
              </a:tr>
              <a:tr h="1514167">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T. P. Sharma (2021)</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Cloud Data Security using ML</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dirty="0">
                          <a:solidFill>
                            <a:srgbClr val="1F1F1F"/>
                          </a:solidFill>
                          <a:effectLst/>
                          <a:latin typeface="Times New Roman" panose="02020603050405020304" pitchFamily="18" charset="0"/>
                          <a:cs typeface="Times New Roman" panose="02020603050405020304" pitchFamily="18" charset="0"/>
                        </a:rPr>
                        <a:t>Optimized feature selection to reduce computational overhead</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SVM + Genetic Algorithm (GA)</a:t>
                      </a:r>
                      <a:endParaRPr lang="en-IN"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CIC-IDS2017</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Accuracy: ~91%</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US" sz="1600" dirty="0">
                          <a:solidFill>
                            <a:srgbClr val="1F1F1F"/>
                          </a:solidFill>
                          <a:effectLst/>
                          <a:latin typeface="Times New Roman" panose="02020603050405020304" pitchFamily="18" charset="0"/>
                          <a:cs typeface="Times New Roman" panose="02020603050405020304" pitchFamily="18" charset="0"/>
                        </a:rPr>
                        <a:t>SVM is computationally expensive for real-time monitoring</a:t>
                      </a:r>
                    </a:p>
                  </a:txBody>
                  <a:tcPr marL="24960" marR="24960" marT="16640" marB="1664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21318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1C5FF99-101F-B3FE-652C-9C4E2301029A}"/>
              </a:ext>
            </a:extLst>
          </p:cNvPr>
          <p:cNvGraphicFramePr>
            <a:graphicFrameLocks noGrp="1"/>
          </p:cNvGraphicFramePr>
          <p:nvPr>
            <p:extLst>
              <p:ext uri="{D42A27DB-BD31-4B8C-83A1-F6EECF244321}">
                <p14:modId xmlns:p14="http://schemas.microsoft.com/office/powerpoint/2010/main" val="1297296389"/>
              </p:ext>
            </p:extLst>
          </p:nvPr>
        </p:nvGraphicFramePr>
        <p:xfrm>
          <a:off x="304800" y="990601"/>
          <a:ext cx="11480798" cy="1777999"/>
        </p:xfrm>
        <a:graphic>
          <a:graphicData uri="http://schemas.openxmlformats.org/drawingml/2006/table">
            <a:tbl>
              <a:tblPr/>
              <a:tblGrid>
                <a:gridCol w="1640114">
                  <a:extLst>
                    <a:ext uri="{9D8B030D-6E8A-4147-A177-3AD203B41FA5}">
                      <a16:colId xmlns:a16="http://schemas.microsoft.com/office/drawing/2014/main" val="2069459042"/>
                    </a:ext>
                  </a:extLst>
                </a:gridCol>
                <a:gridCol w="1640114">
                  <a:extLst>
                    <a:ext uri="{9D8B030D-6E8A-4147-A177-3AD203B41FA5}">
                      <a16:colId xmlns:a16="http://schemas.microsoft.com/office/drawing/2014/main" val="4033834785"/>
                    </a:ext>
                  </a:extLst>
                </a:gridCol>
                <a:gridCol w="1640114">
                  <a:extLst>
                    <a:ext uri="{9D8B030D-6E8A-4147-A177-3AD203B41FA5}">
                      <a16:colId xmlns:a16="http://schemas.microsoft.com/office/drawing/2014/main" val="401435470"/>
                    </a:ext>
                  </a:extLst>
                </a:gridCol>
                <a:gridCol w="1640114">
                  <a:extLst>
                    <a:ext uri="{9D8B030D-6E8A-4147-A177-3AD203B41FA5}">
                      <a16:colId xmlns:a16="http://schemas.microsoft.com/office/drawing/2014/main" val="1504508008"/>
                    </a:ext>
                  </a:extLst>
                </a:gridCol>
                <a:gridCol w="1640114">
                  <a:extLst>
                    <a:ext uri="{9D8B030D-6E8A-4147-A177-3AD203B41FA5}">
                      <a16:colId xmlns:a16="http://schemas.microsoft.com/office/drawing/2014/main" val="1119847799"/>
                    </a:ext>
                  </a:extLst>
                </a:gridCol>
                <a:gridCol w="1640114">
                  <a:extLst>
                    <a:ext uri="{9D8B030D-6E8A-4147-A177-3AD203B41FA5}">
                      <a16:colId xmlns:a16="http://schemas.microsoft.com/office/drawing/2014/main" val="619640831"/>
                    </a:ext>
                  </a:extLst>
                </a:gridCol>
                <a:gridCol w="1640114">
                  <a:extLst>
                    <a:ext uri="{9D8B030D-6E8A-4147-A177-3AD203B41FA5}">
                      <a16:colId xmlns:a16="http://schemas.microsoft.com/office/drawing/2014/main" val="221961636"/>
                    </a:ext>
                  </a:extLst>
                </a:gridCol>
              </a:tblGrid>
              <a:tr h="1777999">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A. A. Hady et al. (2020)</a:t>
                      </a:r>
                    </a:p>
                    <a:p>
                      <a:pPr algn="l" rtl="0">
                        <a:buNone/>
                      </a:pPr>
                      <a:br>
                        <a:rPr lang="en-IN" sz="1600">
                          <a:solidFill>
                            <a:srgbClr val="1F1F1F"/>
                          </a:solidFill>
                          <a:effectLst/>
                          <a:latin typeface="Times New Roman" panose="02020603050405020304" pitchFamily="18" charset="0"/>
                          <a:cs typeface="Times New Roman" panose="02020603050405020304" pitchFamily="18" charset="0"/>
                        </a:rPr>
                      </a:br>
                      <a:endParaRPr lang="en-IN" sz="1600">
                        <a:solidFill>
                          <a:srgbClr val="1F1F1F"/>
                        </a:solidFill>
                        <a:effectLst/>
                        <a:latin typeface="Times New Roman" panose="02020603050405020304" pitchFamily="18" charset="0"/>
                        <a:cs typeface="Times New Roman" panose="02020603050405020304" pitchFamily="18" charset="0"/>
                      </a:endParaRPr>
                    </a:p>
                    <a:p>
                      <a:pPr algn="l" rtl="0">
                        <a:buNone/>
                      </a:pPr>
                      <a:r>
                        <a:rPr lang="en-IN" sz="1600" i="1">
                          <a:solidFill>
                            <a:srgbClr val="1F1F1F"/>
                          </a:solidFill>
                          <a:effectLst/>
                          <a:latin typeface="Times New Roman" panose="02020603050405020304" pitchFamily="18" charset="0"/>
                          <a:cs typeface="Times New Roman" panose="02020603050405020304" pitchFamily="18" charset="0"/>
                        </a:rPr>
                        <a:t>(</a:t>
                      </a:r>
                      <a:r>
                        <a:rPr lang="en-IN" sz="1600" b="1" i="1">
                          <a:solidFill>
                            <a:srgbClr val="1F1F1F"/>
                          </a:solidFill>
                          <a:effectLst/>
                          <a:latin typeface="Times New Roman" panose="02020603050405020304" pitchFamily="18" charset="0"/>
                          <a:cs typeface="Times New Roman" panose="02020603050405020304" pitchFamily="18" charset="0"/>
                        </a:rPr>
                        <a:t>Base Paper</a:t>
                      </a:r>
                      <a:r>
                        <a:rPr lang="en-IN" sz="1600" i="1">
                          <a:solidFill>
                            <a:srgbClr val="1F1F1F"/>
                          </a:solidFill>
                          <a:effectLst/>
                          <a:latin typeface="Times New Roman" panose="02020603050405020304" pitchFamily="18" charset="0"/>
                          <a:cs typeface="Times New Roman" panose="02020603050405020304" pitchFamily="18" charset="0"/>
                        </a:rPr>
                        <a:t>)</a:t>
                      </a:r>
                      <a:r>
                        <a:rPr lang="en-IN" sz="1600">
                          <a:solidFill>
                            <a:srgbClr val="1F1F1F"/>
                          </a:solidFill>
                          <a:effectLst/>
                          <a:latin typeface="Times New Roman" panose="02020603050405020304" pitchFamily="18" charset="0"/>
                          <a:cs typeface="Times New Roman" panose="02020603050405020304" pitchFamily="18" charset="0"/>
                        </a:rPr>
                        <a:t> </a:t>
                      </a:r>
                    </a:p>
                    <a:p>
                      <a:pPr algn="l" rtl="0">
                        <a:buNone/>
                      </a:pPr>
                      <a:r>
                        <a:rPr lang="en-IN" sz="1600">
                          <a:solidFill>
                            <a:srgbClr val="444746"/>
                          </a:solidFill>
                          <a:effectLst/>
                          <a:latin typeface="Times New Roman" panose="02020603050405020304" pitchFamily="18" charset="0"/>
                          <a:cs typeface="Times New Roman" panose="02020603050405020304" pitchFamily="18" charset="0"/>
                        </a:rPr>
                        <a:t>+1</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IDS for Healthcare using Medical &amp; Network Data </a:t>
                      </a:r>
                    </a:p>
                    <a:p>
                      <a:pPr algn="l" rtl="0">
                        <a:buNone/>
                      </a:pPr>
                      <a:r>
                        <a:rPr lang="en-US" sz="1600">
                          <a:solidFill>
                            <a:srgbClr val="444746"/>
                          </a:solidFill>
                          <a:effectLst/>
                          <a:latin typeface="Times New Roman" panose="02020603050405020304" pitchFamily="18" charset="0"/>
                          <a:cs typeface="Times New Roman" panose="02020603050405020304" pitchFamily="18" charset="0"/>
                        </a:rPr>
                        <a:t>+1</a:t>
                      </a:r>
                      <a:endParaRPr lang="en-US"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dirty="0">
                          <a:solidFill>
                            <a:srgbClr val="1F1F1F"/>
                          </a:solidFill>
                          <a:effectLst/>
                          <a:latin typeface="Times New Roman" panose="02020603050405020304" pitchFamily="18" charset="0"/>
                          <a:cs typeface="Times New Roman" panose="02020603050405020304" pitchFamily="18" charset="0"/>
                        </a:rPr>
                        <a:t>Combining network and patient biometric data improves detection by up to 25%.</a:t>
                      </a:r>
                    </a:p>
                    <a:p>
                      <a:pPr algn="l" rtl="0">
                        <a:buNone/>
                      </a:pPr>
                      <a:r>
                        <a:rPr lang="en-US" sz="1600" dirty="0">
                          <a:solidFill>
                            <a:srgbClr val="444746"/>
                          </a:solidFill>
                          <a:effectLst/>
                          <a:latin typeface="Times New Roman" panose="02020603050405020304" pitchFamily="18" charset="0"/>
                          <a:cs typeface="Times New Roman" panose="02020603050405020304" pitchFamily="18" charset="0"/>
                        </a:rPr>
                        <a:t>+1</a:t>
                      </a:r>
                      <a:endParaRPr lang="en-US"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RF, KNN, SVM, and </a:t>
                      </a:r>
                      <a:r>
                        <a:rPr lang="en-IN" sz="1600" b="1">
                          <a:solidFill>
                            <a:srgbClr val="1F1F1F"/>
                          </a:solidFill>
                          <a:effectLst/>
                          <a:latin typeface="Times New Roman" panose="02020603050405020304" pitchFamily="18" charset="0"/>
                          <a:cs typeface="Times New Roman" panose="02020603050405020304" pitchFamily="18" charset="0"/>
                        </a:rPr>
                        <a:t>ANN</a:t>
                      </a:r>
                      <a:r>
                        <a:rPr lang="en-IN" sz="1600">
                          <a:solidFill>
                            <a:srgbClr val="1F1F1F"/>
                          </a:solidFill>
                          <a:effectLst/>
                          <a:latin typeface="Times New Roman" panose="02020603050405020304" pitchFamily="18" charset="0"/>
                          <a:cs typeface="Times New Roman" panose="02020603050405020304" pitchFamily="18" charset="0"/>
                        </a:rPr>
                        <a:t>.</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EHMS Dataset</a:t>
                      </a:r>
                      <a:r>
                        <a:rPr lang="en-IN" sz="1600">
                          <a:solidFill>
                            <a:srgbClr val="1F1F1F"/>
                          </a:solidFill>
                          <a:effectLst/>
                          <a:latin typeface="Times New Roman" panose="02020603050405020304" pitchFamily="18" charset="0"/>
                          <a:cs typeface="Times New Roman" panose="02020603050405020304" pitchFamily="18" charset="0"/>
                        </a:rPr>
                        <a:t> (16k records).</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AUC: ~93% (ANN), Accuracy: ~92%.</a:t>
                      </a:r>
                    </a:p>
                    <a:p>
                      <a:pPr algn="l" rtl="0">
                        <a:buNone/>
                      </a:pPr>
                      <a:r>
                        <a:rPr lang="en-IN" sz="1600">
                          <a:solidFill>
                            <a:srgbClr val="444746"/>
                          </a:solidFill>
                          <a:effectLst/>
                          <a:latin typeface="Times New Roman" panose="02020603050405020304" pitchFamily="18" charset="0"/>
                          <a:cs typeface="Times New Roman" panose="02020603050405020304" pitchFamily="18" charset="0"/>
                        </a:rPr>
                        <a:t>+1</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dirty="0">
                          <a:solidFill>
                            <a:srgbClr val="1F1F1F"/>
                          </a:solidFill>
                          <a:effectLst/>
                          <a:latin typeface="Times New Roman" panose="02020603050405020304" pitchFamily="18" charset="0"/>
                          <a:cs typeface="Times New Roman" panose="02020603050405020304" pitchFamily="18" charset="0"/>
                        </a:rPr>
                        <a:t>Results show performance is </a:t>
                      </a:r>
                      <a:r>
                        <a:rPr lang="en-US" sz="1600" b="1" dirty="0">
                          <a:solidFill>
                            <a:srgbClr val="1F1F1F"/>
                          </a:solidFill>
                          <a:effectLst/>
                          <a:latin typeface="Times New Roman" panose="02020603050405020304" pitchFamily="18" charset="0"/>
                          <a:cs typeface="Times New Roman" panose="02020603050405020304" pitchFamily="18" charset="0"/>
                        </a:rPr>
                        <a:t>"not optimal"</a:t>
                      </a:r>
                      <a:r>
                        <a:rPr lang="en-US" sz="1600" dirty="0">
                          <a:solidFill>
                            <a:srgbClr val="1F1F1F"/>
                          </a:solidFill>
                          <a:effectLst/>
                          <a:latin typeface="Times New Roman" panose="02020603050405020304" pitchFamily="18" charset="0"/>
                          <a:cs typeface="Times New Roman" panose="02020603050405020304" pitchFamily="18" charset="0"/>
                        </a:rPr>
                        <a:t> and lacks specific zero-day detection logic.</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131413170"/>
                  </a:ext>
                </a:extLst>
              </a:tr>
            </a:tbl>
          </a:graphicData>
        </a:graphic>
      </p:graphicFrame>
      <p:graphicFrame>
        <p:nvGraphicFramePr>
          <p:cNvPr id="6" name="Table 5">
            <a:extLst>
              <a:ext uri="{FF2B5EF4-FFF2-40B4-BE49-F238E27FC236}">
                <a16:creationId xmlns:a16="http://schemas.microsoft.com/office/drawing/2014/main" id="{1734DA86-C95B-3771-5A7C-E1576B5245A9}"/>
              </a:ext>
            </a:extLst>
          </p:cNvPr>
          <p:cNvGraphicFramePr>
            <a:graphicFrameLocks noGrp="1"/>
          </p:cNvGraphicFramePr>
          <p:nvPr>
            <p:extLst>
              <p:ext uri="{D42A27DB-BD31-4B8C-83A1-F6EECF244321}">
                <p14:modId xmlns:p14="http://schemas.microsoft.com/office/powerpoint/2010/main" val="4147806470"/>
              </p:ext>
            </p:extLst>
          </p:nvPr>
        </p:nvGraphicFramePr>
        <p:xfrm>
          <a:off x="304800" y="2768601"/>
          <a:ext cx="11480798" cy="2748800"/>
        </p:xfrm>
        <a:graphic>
          <a:graphicData uri="http://schemas.openxmlformats.org/drawingml/2006/table">
            <a:tbl>
              <a:tblPr/>
              <a:tblGrid>
                <a:gridCol w="1640114">
                  <a:extLst>
                    <a:ext uri="{9D8B030D-6E8A-4147-A177-3AD203B41FA5}">
                      <a16:colId xmlns:a16="http://schemas.microsoft.com/office/drawing/2014/main" val="4216061620"/>
                    </a:ext>
                  </a:extLst>
                </a:gridCol>
                <a:gridCol w="1640114">
                  <a:extLst>
                    <a:ext uri="{9D8B030D-6E8A-4147-A177-3AD203B41FA5}">
                      <a16:colId xmlns:a16="http://schemas.microsoft.com/office/drawing/2014/main" val="2212460631"/>
                    </a:ext>
                  </a:extLst>
                </a:gridCol>
                <a:gridCol w="1640114">
                  <a:extLst>
                    <a:ext uri="{9D8B030D-6E8A-4147-A177-3AD203B41FA5}">
                      <a16:colId xmlns:a16="http://schemas.microsoft.com/office/drawing/2014/main" val="679952611"/>
                    </a:ext>
                  </a:extLst>
                </a:gridCol>
                <a:gridCol w="1640114">
                  <a:extLst>
                    <a:ext uri="{9D8B030D-6E8A-4147-A177-3AD203B41FA5}">
                      <a16:colId xmlns:a16="http://schemas.microsoft.com/office/drawing/2014/main" val="306482652"/>
                    </a:ext>
                  </a:extLst>
                </a:gridCol>
                <a:gridCol w="1640114">
                  <a:extLst>
                    <a:ext uri="{9D8B030D-6E8A-4147-A177-3AD203B41FA5}">
                      <a16:colId xmlns:a16="http://schemas.microsoft.com/office/drawing/2014/main" val="691884439"/>
                    </a:ext>
                  </a:extLst>
                </a:gridCol>
                <a:gridCol w="1640114">
                  <a:extLst>
                    <a:ext uri="{9D8B030D-6E8A-4147-A177-3AD203B41FA5}">
                      <a16:colId xmlns:a16="http://schemas.microsoft.com/office/drawing/2014/main" val="1280891439"/>
                    </a:ext>
                  </a:extLst>
                </a:gridCol>
                <a:gridCol w="1640114">
                  <a:extLst>
                    <a:ext uri="{9D8B030D-6E8A-4147-A177-3AD203B41FA5}">
                      <a16:colId xmlns:a16="http://schemas.microsoft.com/office/drawing/2014/main" val="2273730147"/>
                    </a:ext>
                  </a:extLst>
                </a:gridCol>
              </a:tblGrid>
              <a:tr h="338554">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M. Al-</a:t>
                      </a:r>
                      <a:r>
                        <a:rPr lang="en-IN" sz="1600" b="1" dirty="0" err="1">
                          <a:solidFill>
                            <a:srgbClr val="1F1F1F"/>
                          </a:solidFill>
                          <a:effectLst/>
                          <a:latin typeface="Times New Roman" panose="02020603050405020304" pitchFamily="18" charset="0"/>
                          <a:cs typeface="Times New Roman" panose="02020603050405020304" pitchFamily="18" charset="0"/>
                        </a:rPr>
                        <a:t>Zewairi</a:t>
                      </a:r>
                      <a:r>
                        <a:rPr lang="en-IN" sz="1600" b="1" dirty="0">
                          <a:solidFill>
                            <a:srgbClr val="1F1F1F"/>
                          </a:solidFill>
                          <a:effectLst/>
                          <a:latin typeface="Times New Roman" panose="02020603050405020304" pitchFamily="18" charset="0"/>
                          <a:cs typeface="Times New Roman" panose="02020603050405020304" pitchFamily="18" charset="0"/>
                        </a:rPr>
                        <a:t> et al. (2020)</a:t>
                      </a:r>
                      <a:endParaRPr lang="en-IN" sz="1600" dirty="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Enhancing ML for 2018 Dataset</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Evaluated standard algorithms to handle the massive scale of 2018 traffic.</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b="1">
                          <a:solidFill>
                            <a:srgbClr val="1F1F1F"/>
                          </a:solidFill>
                          <a:effectLst/>
                          <a:latin typeface="Times New Roman" panose="02020603050405020304" pitchFamily="18" charset="0"/>
                          <a:cs typeface="Times New Roman" panose="02020603050405020304" pitchFamily="18" charset="0"/>
                        </a:rPr>
                        <a:t>KNN, RF, Logistic Regression</a:t>
                      </a:r>
                      <a:endParaRPr lang="en-IN"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CSE-CIC-IDS2018</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Precision: ~92%, Recall: ~88%</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dirty="0">
                          <a:solidFill>
                            <a:srgbClr val="1F1F1F"/>
                          </a:solidFill>
                          <a:effectLst/>
                          <a:latin typeface="Times New Roman" panose="02020603050405020304" pitchFamily="18" charset="0"/>
                          <a:cs typeface="Times New Roman" panose="02020603050405020304" pitchFamily="18" charset="0"/>
                        </a:rPr>
                        <a:t>High FPR; lacks a dedicated unsupervised pre-filter like your Deep Autoencoder.</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517271494"/>
                  </a:ext>
                </a:extLst>
              </a:tr>
              <a:tr h="338554">
                <a:tc>
                  <a:txBody>
                    <a:bodyPr/>
                    <a:lstStyle/>
                    <a:p>
                      <a:pPr algn="l" rtl="0">
                        <a:buNone/>
                      </a:pPr>
                      <a:r>
                        <a:rPr lang="da-DK" sz="1600" b="1">
                          <a:solidFill>
                            <a:srgbClr val="1F1F1F"/>
                          </a:solidFill>
                          <a:effectLst/>
                          <a:latin typeface="Times New Roman" panose="02020603050405020304" pitchFamily="18" charset="0"/>
                          <a:cs typeface="Times New Roman" panose="02020603050405020304" pitchFamily="18" charset="0"/>
                        </a:rPr>
                        <a:t>A. Shone et al. (2018)</a:t>
                      </a:r>
                      <a:endParaRPr lang="da-DK" sz="1600">
                        <a:solidFill>
                          <a:srgbClr val="1F1F1F"/>
                        </a:solidFill>
                        <a:effectLst/>
                        <a:latin typeface="Times New Roman" panose="02020603050405020304" pitchFamily="18" charset="0"/>
                        <a:cs typeface="Times New Roman" panose="02020603050405020304" pitchFamily="18" charset="0"/>
                      </a:endParaRP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Deep Autoencoder for IDS</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a:solidFill>
                            <a:srgbClr val="1F1F1F"/>
                          </a:solidFill>
                          <a:effectLst/>
                          <a:latin typeface="Times New Roman" panose="02020603050405020304" pitchFamily="18" charset="0"/>
                          <a:cs typeface="Times New Roman" panose="02020603050405020304" pitchFamily="18" charset="0"/>
                        </a:rPr>
                        <a:t>Focused on non-symmetric abstraction to reduce deep learning training time.</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b="1" dirty="0">
                          <a:solidFill>
                            <a:srgbClr val="1F1F1F"/>
                          </a:solidFill>
                          <a:effectLst/>
                          <a:latin typeface="Times New Roman" panose="02020603050405020304" pitchFamily="18" charset="0"/>
                          <a:cs typeface="Times New Roman" panose="02020603050405020304" pitchFamily="18" charset="0"/>
                        </a:rPr>
                        <a:t>NDAEL</a:t>
                      </a:r>
                      <a:r>
                        <a:rPr lang="en-IN" sz="1600" dirty="0">
                          <a:solidFill>
                            <a:srgbClr val="1F1F1F"/>
                          </a:solidFill>
                          <a:effectLst/>
                          <a:latin typeface="Times New Roman" panose="02020603050405020304" pitchFamily="18" charset="0"/>
                          <a:cs typeface="Times New Roman" panose="02020603050405020304" pitchFamily="18" charset="0"/>
                        </a:rPr>
                        <a:t> (Non-symmetric Deep Autoencoder)</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NSL-KDD, CIC-IDS2017</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IN" sz="1600">
                          <a:solidFill>
                            <a:srgbClr val="1F1F1F"/>
                          </a:solidFill>
                          <a:effectLst/>
                          <a:latin typeface="Times New Roman" panose="02020603050405020304" pitchFamily="18" charset="0"/>
                          <a:cs typeface="Times New Roman" panose="02020603050405020304" pitchFamily="18" charset="0"/>
                        </a:rPr>
                        <a:t>Accuracy: ~85–89%</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1600" dirty="0">
                          <a:solidFill>
                            <a:srgbClr val="1F1F1F"/>
                          </a:solidFill>
                          <a:effectLst/>
                          <a:latin typeface="Times New Roman" panose="02020603050405020304" pitchFamily="18" charset="0"/>
                          <a:cs typeface="Times New Roman" panose="02020603050405020304" pitchFamily="18" charset="0"/>
                        </a:rPr>
                        <a:t>Low recall for minority attacks; lacks a Stage 2 classifier for attack-type identification.</a:t>
                      </a:r>
                    </a:p>
                  </a:txBody>
                  <a:tcPr marL="24960" marR="24960" marT="16640" marB="16640"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05569543"/>
                  </a:ext>
                </a:extLst>
              </a:tr>
            </a:tbl>
          </a:graphicData>
        </a:graphic>
      </p:graphicFrame>
      <p:sp>
        <p:nvSpPr>
          <p:cNvPr id="7" name="Rectangle 1">
            <a:extLst>
              <a:ext uri="{FF2B5EF4-FFF2-40B4-BE49-F238E27FC236}">
                <a16:creationId xmlns:a16="http://schemas.microsoft.com/office/drawing/2014/main" id="{63B98A7B-9CF2-F51C-B441-64E7C3649CC1}"/>
              </a:ext>
            </a:extLst>
          </p:cNvPr>
          <p:cNvSpPr>
            <a:spLocks noChangeArrowheads="1"/>
          </p:cNvSpPr>
          <p:nvPr/>
        </p:nvSpPr>
        <p:spPr bwMode="auto">
          <a:xfrm>
            <a:off x="304800" y="3442815"/>
            <a:ext cx="1231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8896768-F79F-3040-98E7-75144774C587}"/>
              </a:ext>
            </a:extLst>
          </p:cNvPr>
          <p:cNvSpPr>
            <a:spLocks noGrp="1" noChangeArrowheads="1"/>
          </p:cNvSpPr>
          <p:nvPr>
            <p:ph type="title"/>
          </p:nvPr>
        </p:nvSpPr>
        <p:spPr>
          <a:xfrm>
            <a:off x="243840" y="-101406"/>
            <a:ext cx="10515600" cy="1325563"/>
          </a:xfrm>
        </p:spPr>
        <p:txBody>
          <a:bodyPr/>
          <a:lstStyle/>
          <a:p>
            <a:r>
              <a:rPr lang="en-US" altLang="en-US" dirty="0">
                <a:latin typeface="Times New Roman" panose="02020603050405020304" pitchFamily="18" charset="0"/>
                <a:cs typeface="Times New Roman" panose="02020603050405020304" pitchFamily="18" charset="0"/>
              </a:rPr>
              <a:t>Functional Requirements</a:t>
            </a:r>
          </a:p>
        </p:txBody>
      </p:sp>
      <p:sp>
        <p:nvSpPr>
          <p:cNvPr id="2" name="Content Placeholder 1">
            <a:extLst>
              <a:ext uri="{FF2B5EF4-FFF2-40B4-BE49-F238E27FC236}">
                <a16:creationId xmlns:a16="http://schemas.microsoft.com/office/drawing/2014/main" id="{5FF926DB-10C7-3C94-84A3-B45D1EB57D00}"/>
              </a:ext>
            </a:extLst>
          </p:cNvPr>
          <p:cNvSpPr>
            <a:spLocks noGrp="1"/>
          </p:cNvSpPr>
          <p:nvPr>
            <p:ph sz="half" idx="1"/>
          </p:nvPr>
        </p:nvSpPr>
        <p:spPr>
          <a:xfrm>
            <a:off x="838200" y="975360"/>
            <a:ext cx="9921240" cy="5201603"/>
          </a:xfrm>
        </p:spPr>
        <p:txBody>
          <a:bodyPr/>
          <a:lstStyle/>
          <a:p>
            <a:pPr marL="0" indent="0" algn="just">
              <a:buNone/>
            </a:pPr>
            <a:r>
              <a:rPr lang="en-IN" sz="1800" b="1" dirty="0">
                <a:latin typeface="Times New Roman" panose="02020603050405020304" pitchFamily="18" charset="0"/>
                <a:cs typeface="Times New Roman" panose="02020603050405020304" pitchFamily="18" charset="0"/>
              </a:rPr>
              <a:t>Feature Extraction</a:t>
            </a:r>
            <a:endParaRPr lang="en-IN" sz="1800" dirty="0">
              <a:latin typeface="Times New Roman" panose="02020603050405020304" pitchFamily="18" charset="0"/>
              <a:cs typeface="Times New Roman" panose="02020603050405020304" pitchFamily="18" charset="0"/>
            </a:endParaRPr>
          </a:p>
          <a:p>
            <a:pPr lvl="1" algn="just"/>
            <a:r>
              <a:rPr lang="en-IN" sz="1800" dirty="0">
                <a:latin typeface="Times New Roman" panose="02020603050405020304" pitchFamily="18" charset="0"/>
                <a:cs typeface="Times New Roman" panose="02020603050405020304" pitchFamily="18" charset="0"/>
              </a:rPr>
              <a:t>Parse raw network packets (TCP/UDP flows)</a:t>
            </a:r>
          </a:p>
          <a:p>
            <a:pPr lvl="1" algn="just"/>
            <a:r>
              <a:rPr lang="en-IN" sz="1800" dirty="0">
                <a:latin typeface="Times New Roman" panose="02020603050405020304" pitchFamily="18" charset="0"/>
                <a:cs typeface="Times New Roman" panose="02020603050405020304" pitchFamily="18" charset="0"/>
              </a:rPr>
              <a:t>Extract 12 selected bidirectional flow statistics:</a:t>
            </a:r>
          </a:p>
          <a:p>
            <a:pPr lvl="2" algn="just"/>
            <a:r>
              <a:rPr lang="en-IN" sz="1800" dirty="0">
                <a:latin typeface="Times New Roman" panose="02020603050405020304" pitchFamily="18" charset="0"/>
                <a:cs typeface="Times New Roman" panose="02020603050405020304" pitchFamily="18" charset="0"/>
              </a:rPr>
              <a:t>Packet rates, byte counts, inter-arrival times</a:t>
            </a:r>
          </a:p>
          <a:p>
            <a:pPr lvl="2" algn="just"/>
            <a:r>
              <a:rPr lang="en-IN" sz="1800" dirty="0">
                <a:latin typeface="Times New Roman" panose="02020603050405020304" pitchFamily="18" charset="0"/>
                <a:cs typeface="Times New Roman" panose="02020603050405020304" pitchFamily="18" charset="0"/>
              </a:rPr>
              <a:t>TCP flags (FIN, PSH), idle/active window statistics</a:t>
            </a:r>
          </a:p>
          <a:p>
            <a:pPr marL="0" indent="0" algn="just">
              <a:buNone/>
            </a:pPr>
            <a:r>
              <a:rPr lang="en-IN" sz="1800" b="1" dirty="0">
                <a:latin typeface="Times New Roman" panose="02020603050405020304" pitchFamily="18" charset="0"/>
                <a:cs typeface="Times New Roman" panose="02020603050405020304" pitchFamily="18" charset="0"/>
              </a:rPr>
              <a:t>Anomaly Scoring</a:t>
            </a:r>
            <a:endParaRPr lang="en-IN" sz="1800" dirty="0">
              <a:latin typeface="Times New Roman" panose="02020603050405020304" pitchFamily="18" charset="0"/>
              <a:cs typeface="Times New Roman" panose="02020603050405020304" pitchFamily="18" charset="0"/>
            </a:endParaRPr>
          </a:p>
          <a:p>
            <a:pPr lvl="1" algn="just"/>
            <a:r>
              <a:rPr lang="en-IN" sz="1800" dirty="0">
                <a:latin typeface="Times New Roman" panose="02020603050405020304" pitchFamily="18" charset="0"/>
                <a:cs typeface="Times New Roman" panose="02020603050405020304" pitchFamily="18" charset="0"/>
              </a:rPr>
              <a:t>Autoencoder reconstruction error detection</a:t>
            </a:r>
          </a:p>
          <a:p>
            <a:pPr lvl="1" algn="just"/>
            <a:r>
              <a:rPr lang="en-IN" sz="1800" dirty="0">
                <a:latin typeface="Times New Roman" panose="02020603050405020304" pitchFamily="18" charset="0"/>
                <a:cs typeface="Times New Roman" panose="02020603050405020304" pitchFamily="18" charset="0"/>
              </a:rPr>
              <a:t>Isolation Forest anomaly scoring</a:t>
            </a:r>
          </a:p>
          <a:p>
            <a:pPr lvl="1" algn="just"/>
            <a:r>
              <a:rPr lang="en-IN" sz="1800" dirty="0">
                <a:latin typeface="Times New Roman" panose="02020603050405020304" pitchFamily="18" charset="0"/>
                <a:cs typeface="Times New Roman" panose="02020603050405020304" pitchFamily="18" charset="0"/>
              </a:rPr>
              <a:t>Weighted fusion (0.7 AE + 0.3 IF)</a:t>
            </a:r>
          </a:p>
          <a:p>
            <a:pPr lvl="1" algn="just"/>
            <a:r>
              <a:rPr lang="en-IN" sz="1800" dirty="0">
                <a:latin typeface="Times New Roman" panose="02020603050405020304" pitchFamily="18" charset="0"/>
                <a:cs typeface="Times New Roman" panose="02020603050405020304" pitchFamily="18" charset="0"/>
              </a:rPr>
              <a:t>Anomaly threshold: 0.5</a:t>
            </a:r>
          </a:p>
          <a:p>
            <a:pPr marL="0" indent="0" algn="just">
              <a:buNone/>
            </a:pPr>
            <a:r>
              <a:rPr lang="en-IN" sz="1800" b="1" dirty="0">
                <a:latin typeface="Times New Roman" panose="02020603050405020304" pitchFamily="18" charset="0"/>
                <a:cs typeface="Times New Roman" panose="02020603050405020304" pitchFamily="18" charset="0"/>
              </a:rPr>
              <a:t>Attack Classification</a:t>
            </a:r>
            <a:endParaRPr lang="en-IN" sz="1800" dirty="0">
              <a:latin typeface="Times New Roman" panose="02020603050405020304" pitchFamily="18" charset="0"/>
              <a:cs typeface="Times New Roman" panose="02020603050405020304" pitchFamily="18" charset="0"/>
            </a:endParaRPr>
          </a:p>
          <a:p>
            <a:pPr lvl="1" algn="just"/>
            <a:r>
              <a:rPr lang="en-IN" sz="1800" dirty="0">
                <a:latin typeface="Times New Roman" panose="02020603050405020304" pitchFamily="18" charset="0"/>
                <a:cs typeface="Times New Roman" panose="02020603050405020304" pitchFamily="18" charset="0"/>
              </a:rPr>
              <a:t>Random Forest binary classifier</a:t>
            </a:r>
          </a:p>
          <a:p>
            <a:pPr lvl="1" algn="just"/>
            <a:r>
              <a:rPr lang="en-IN" sz="1800" dirty="0">
                <a:latin typeface="Times New Roman" panose="02020603050405020304" pitchFamily="18" charset="0"/>
                <a:cs typeface="Times New Roman" panose="02020603050405020304" pitchFamily="18" charset="0"/>
              </a:rPr>
              <a:t>Input: Stage 1 scores + flow features</a:t>
            </a:r>
          </a:p>
          <a:p>
            <a:pPr lvl="1" algn="just"/>
            <a:r>
              <a:rPr lang="en-IN" sz="1800" dirty="0">
                <a:latin typeface="Times New Roman" panose="02020603050405020304" pitchFamily="18" charset="0"/>
                <a:cs typeface="Times New Roman" panose="02020603050405020304" pitchFamily="18" charset="0"/>
              </a:rPr>
              <a:t>Output: BENIGN or ATTACK labels</a:t>
            </a:r>
          </a:p>
          <a:p>
            <a:pPr marL="0" indent="0" algn="just">
              <a:buNone/>
            </a:pPr>
            <a:r>
              <a:rPr lang="en-IN" sz="1800" b="1" dirty="0">
                <a:latin typeface="Times New Roman" panose="02020603050405020304" pitchFamily="18" charset="0"/>
                <a:cs typeface="Times New Roman" panose="02020603050405020304" pitchFamily="18" charset="0"/>
              </a:rPr>
              <a:t>Real-time Monitoring</a:t>
            </a:r>
            <a:endParaRPr lang="en-IN" sz="1800" dirty="0">
              <a:latin typeface="Times New Roman" panose="02020603050405020304" pitchFamily="18" charset="0"/>
              <a:cs typeface="Times New Roman" panose="02020603050405020304" pitchFamily="18" charset="0"/>
            </a:endParaRPr>
          </a:p>
          <a:p>
            <a:pPr lvl="1" algn="just"/>
            <a:r>
              <a:rPr lang="en-IN" sz="1800" dirty="0">
                <a:latin typeface="Times New Roman" panose="02020603050405020304" pitchFamily="18" charset="0"/>
                <a:cs typeface="Times New Roman" panose="02020603050405020304" pitchFamily="18" charset="0"/>
              </a:rPr>
              <a:t>Live packet sniffing from network interface</a:t>
            </a:r>
          </a:p>
          <a:p>
            <a:pPr lvl="1" algn="just"/>
            <a:r>
              <a:rPr lang="en-IN" sz="1800" dirty="0">
                <a:latin typeface="Times New Roman" panose="02020603050405020304" pitchFamily="18" charset="0"/>
                <a:cs typeface="Times New Roman" panose="02020603050405020304" pitchFamily="18" charset="0"/>
              </a:rPr>
              <a:t>Anomaly logging to JSONL with confidence scores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73A0E-F5A4-3442-DC28-55627F9C87E4}"/>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CED1A021-BDFE-6769-7484-714292713251}"/>
              </a:ext>
            </a:extLst>
          </p:cNvPr>
          <p:cNvSpPr>
            <a:spLocks noGrp="1" noChangeArrowheads="1"/>
          </p:cNvSpPr>
          <p:nvPr>
            <p:ph type="title"/>
          </p:nvPr>
        </p:nvSpPr>
        <p:spPr>
          <a:xfrm>
            <a:off x="198120" y="-91246"/>
            <a:ext cx="10515600" cy="1325563"/>
          </a:xfrm>
        </p:spPr>
        <p:txBody>
          <a:bodyPr/>
          <a:lstStyle/>
          <a:p>
            <a:r>
              <a:rPr lang="en-US" altLang="en-US" dirty="0">
                <a:latin typeface="Times New Roman" panose="02020603050405020304" pitchFamily="18" charset="0"/>
                <a:cs typeface="Times New Roman" panose="02020603050405020304" pitchFamily="18" charset="0"/>
              </a:rPr>
              <a:t>Non-Functional Requirements</a:t>
            </a:r>
          </a:p>
        </p:txBody>
      </p:sp>
      <p:sp>
        <p:nvSpPr>
          <p:cNvPr id="5" name="TextBox 4">
            <a:extLst>
              <a:ext uri="{FF2B5EF4-FFF2-40B4-BE49-F238E27FC236}">
                <a16:creationId xmlns:a16="http://schemas.microsoft.com/office/drawing/2014/main" id="{5AAC2C5F-1DC3-8736-1778-01283E538AD9}"/>
              </a:ext>
            </a:extLst>
          </p:cNvPr>
          <p:cNvSpPr txBox="1"/>
          <p:nvPr/>
        </p:nvSpPr>
        <p:spPr>
          <a:xfrm>
            <a:off x="650240" y="1028085"/>
            <a:ext cx="9265920" cy="5632311"/>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Performance:</a:t>
            </a:r>
            <a:endParaRPr lang="en-IN"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1" i="0" dirty="0">
                <a:effectLst/>
                <a:latin typeface="Times New Roman" panose="02020603050405020304" pitchFamily="18" charset="0"/>
                <a:cs typeface="Times New Roman" panose="02020603050405020304" pitchFamily="18" charset="0"/>
              </a:rPr>
              <a:t>Latency:</a:t>
            </a:r>
            <a:r>
              <a:rPr lang="en-IN" b="0" i="0" dirty="0">
                <a:effectLst/>
                <a:latin typeface="Times New Roman" panose="02020603050405020304" pitchFamily="18" charset="0"/>
                <a:cs typeface="Times New Roman" panose="02020603050405020304" pitchFamily="18" charset="0"/>
              </a:rPr>
              <a:t> Sub-second inference per flow</a:t>
            </a:r>
          </a:p>
          <a:p>
            <a:pPr marL="742950" lvl="1" indent="-285750" algn="just">
              <a:buFont typeface="Arial" panose="020B0604020202020204" pitchFamily="34" charset="0"/>
              <a:buChar char="•"/>
            </a:pPr>
            <a:r>
              <a:rPr lang="en-IN" b="1" i="0" dirty="0">
                <a:effectLst/>
                <a:latin typeface="Times New Roman" panose="02020603050405020304" pitchFamily="18" charset="0"/>
                <a:cs typeface="Times New Roman" panose="02020603050405020304" pitchFamily="18" charset="0"/>
              </a:rPr>
              <a:t>Throughput:</a:t>
            </a:r>
            <a:r>
              <a:rPr lang="en-IN" b="0" i="0" dirty="0">
                <a:effectLst/>
                <a:latin typeface="Times New Roman" panose="02020603050405020304" pitchFamily="18" charset="0"/>
                <a:cs typeface="Times New Roman" panose="02020603050405020304" pitchFamily="18" charset="0"/>
              </a:rPr>
              <a:t> 500+ flow detections per second</a:t>
            </a:r>
          </a:p>
          <a:p>
            <a:pPr marL="742950" lvl="1" indent="-285750" algn="just">
              <a:buFont typeface="Arial" panose="020B0604020202020204" pitchFamily="34" charset="0"/>
              <a:buChar char="•"/>
            </a:pPr>
            <a:r>
              <a:rPr lang="en-IN" b="1" i="0" dirty="0">
                <a:effectLst/>
                <a:latin typeface="Times New Roman" panose="02020603050405020304" pitchFamily="18" charset="0"/>
                <a:cs typeface="Times New Roman" panose="02020603050405020304" pitchFamily="18" charset="0"/>
              </a:rPr>
              <a:t>Memory:</a:t>
            </a:r>
            <a:r>
              <a:rPr lang="en-IN" b="0" i="0" dirty="0">
                <a:effectLst/>
                <a:latin typeface="Times New Roman" panose="02020603050405020304" pitchFamily="18" charset="0"/>
                <a:cs typeface="Times New Roman" panose="02020603050405020304" pitchFamily="18" charset="0"/>
              </a:rPr>
              <a:t> ~200MB for trained models + 50MB runtime</a:t>
            </a:r>
          </a:p>
          <a:p>
            <a:pPr algn="just"/>
            <a:r>
              <a:rPr lang="en-IN" b="1" dirty="0">
                <a:latin typeface="Times New Roman" panose="02020603050405020304" pitchFamily="18" charset="0"/>
                <a:cs typeface="Times New Roman" panose="02020603050405020304" pitchFamily="18" charset="0"/>
              </a:rPr>
              <a:t>Reliability:</a:t>
            </a:r>
            <a:endParaRPr lang="en-IN" b="0" i="0" dirty="0">
              <a:effectLst/>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Graceful error handling for network interface failures</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Model checkpointing and persistence</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Feature consistency across training/inference</a:t>
            </a:r>
          </a:p>
          <a:p>
            <a:pPr algn="just"/>
            <a:r>
              <a:rPr lang="en-IN" b="1" dirty="0">
                <a:latin typeface="Times New Roman" panose="02020603050405020304" pitchFamily="18" charset="0"/>
                <a:cs typeface="Times New Roman" panose="02020603050405020304" pitchFamily="18" charset="0"/>
              </a:rPr>
              <a:t>Usability:</a:t>
            </a:r>
            <a:endParaRPr lang="en-IN" b="0" i="0" dirty="0">
              <a:effectLst/>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Command-line interfaces with sensible defaults</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Comprehensive logging (console + file)</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JSONL anomaly format for easy parsing/integration</a:t>
            </a:r>
          </a:p>
          <a:p>
            <a:pPr algn="just"/>
            <a:r>
              <a:rPr lang="en-IN" b="1" i="0" dirty="0">
                <a:effectLst/>
                <a:latin typeface="Times New Roman" panose="02020603050405020304" pitchFamily="18" charset="0"/>
                <a:cs typeface="Times New Roman" panose="02020603050405020304" pitchFamily="18" charset="0"/>
              </a:rPr>
              <a:t>Maintainability:</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Modular code structure (</a:t>
            </a:r>
            <a:r>
              <a:rPr lang="en-IN" b="0" i="0" dirty="0" err="1">
                <a:effectLst/>
                <a:latin typeface="Times New Roman" panose="02020603050405020304" pitchFamily="18" charset="0"/>
                <a:cs typeface="Times New Roman" panose="02020603050405020304" pitchFamily="18" charset="0"/>
              </a:rPr>
              <a:t>src</a:t>
            </a:r>
            <a:r>
              <a:rPr lang="en-IN" b="0" i="0" dirty="0">
                <a:effectLst/>
                <a:latin typeface="Times New Roman" panose="02020603050405020304" pitchFamily="18" charset="0"/>
                <a:cs typeface="Times New Roman" panose="02020603050405020304" pitchFamily="18" charset="0"/>
              </a:rPr>
              <a:t>/ directory)</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Unit tests for preprocessing, models, and inference</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Configuration-driven parameters (config/</a:t>
            </a:r>
            <a:r>
              <a:rPr lang="en-IN" b="0" i="0" dirty="0" err="1">
                <a:effectLst/>
                <a:latin typeface="Times New Roman" panose="02020603050405020304" pitchFamily="18" charset="0"/>
                <a:cs typeface="Times New Roman" panose="02020603050405020304" pitchFamily="18" charset="0"/>
              </a:rPr>
              <a:t>default_config.yaml</a:t>
            </a:r>
            <a:r>
              <a:rPr lang="en-IN" b="0" i="0" dirty="0">
                <a:effectLst/>
                <a:latin typeface="Times New Roman" panose="02020603050405020304" pitchFamily="18" charset="0"/>
                <a:cs typeface="Times New Roman" panose="02020603050405020304" pitchFamily="18" charset="0"/>
              </a:rPr>
              <a:t>)</a:t>
            </a:r>
          </a:p>
          <a:p>
            <a:pPr algn="just"/>
            <a:r>
              <a:rPr lang="en-IN" b="1" dirty="0">
                <a:latin typeface="Times New Roman" panose="02020603050405020304" pitchFamily="18" charset="0"/>
                <a:cs typeface="Times New Roman" panose="02020603050405020304" pitchFamily="18" charset="0"/>
              </a:rPr>
              <a:t>Security:</a:t>
            </a:r>
            <a:endParaRPr lang="en-IN" b="1" i="0" dirty="0">
              <a:effectLst/>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Runs with administrator privileges for packet capture only</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No persistent storage of sensitive network data (logs are temporary)</a:t>
            </a:r>
          </a:p>
          <a:p>
            <a:pPr marL="742950" lvl="1" indent="-285750" algn="just">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Feature sanitization (no raw IP storage in training)</a:t>
            </a:r>
          </a:p>
        </p:txBody>
      </p:sp>
    </p:spTree>
    <p:extLst>
      <p:ext uri="{BB962C8B-B14F-4D97-AF65-F5344CB8AC3E}">
        <p14:creationId xmlns:p14="http://schemas.microsoft.com/office/powerpoint/2010/main" val="2836306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a:extLst>
              <a:ext uri="{FF2B5EF4-FFF2-40B4-BE49-F238E27FC236}">
                <a16:creationId xmlns:a16="http://schemas.microsoft.com/office/drawing/2014/main" id="{550A27A3-AB62-382E-0EF6-0E93A7E5C70B}"/>
              </a:ext>
            </a:extLst>
          </p:cNvPr>
          <p:cNvSpPr>
            <a:spLocks noGrp="1" noChangeArrowheads="1"/>
          </p:cNvSpPr>
          <p:nvPr>
            <p:ph type="title"/>
          </p:nvPr>
        </p:nvSpPr>
        <p:spPr>
          <a:xfrm>
            <a:off x="441960" y="0"/>
            <a:ext cx="10515600" cy="1325563"/>
          </a:xfrm>
        </p:spPr>
        <p:txBody>
          <a:bodyPr/>
          <a:lstStyle/>
          <a:p>
            <a:r>
              <a:rPr lang="en-US" altLang="en-US" dirty="0">
                <a:latin typeface="Times New Roman" panose="02020603050405020304" pitchFamily="18" charset="0"/>
                <a:cs typeface="Times New Roman" panose="02020603050405020304" pitchFamily="18" charset="0"/>
              </a:rPr>
              <a:t>Hardware Requirements</a:t>
            </a:r>
          </a:p>
        </p:txBody>
      </p:sp>
      <p:graphicFrame>
        <p:nvGraphicFramePr>
          <p:cNvPr id="9" name="Table 8">
            <a:extLst>
              <a:ext uri="{FF2B5EF4-FFF2-40B4-BE49-F238E27FC236}">
                <a16:creationId xmlns:a16="http://schemas.microsoft.com/office/drawing/2014/main" id="{4F56CB96-F10B-37E5-A44A-157EA6A2D354}"/>
              </a:ext>
            </a:extLst>
          </p:cNvPr>
          <p:cNvGraphicFramePr>
            <a:graphicFrameLocks noGrp="1"/>
          </p:cNvGraphicFramePr>
          <p:nvPr>
            <p:extLst>
              <p:ext uri="{D42A27DB-BD31-4B8C-83A1-F6EECF244321}">
                <p14:modId xmlns:p14="http://schemas.microsoft.com/office/powerpoint/2010/main" val="1091557804"/>
              </p:ext>
            </p:extLst>
          </p:nvPr>
        </p:nvGraphicFramePr>
        <p:xfrm>
          <a:off x="838200" y="1325563"/>
          <a:ext cx="10515600" cy="2651760"/>
        </p:xfrm>
        <a:graphic>
          <a:graphicData uri="http://schemas.openxmlformats.org/drawingml/2006/table">
            <a:tbl>
              <a:tblPr/>
              <a:tblGrid>
                <a:gridCol w="3505200">
                  <a:extLst>
                    <a:ext uri="{9D8B030D-6E8A-4147-A177-3AD203B41FA5}">
                      <a16:colId xmlns:a16="http://schemas.microsoft.com/office/drawing/2014/main" val="2310476052"/>
                    </a:ext>
                  </a:extLst>
                </a:gridCol>
                <a:gridCol w="3505200">
                  <a:extLst>
                    <a:ext uri="{9D8B030D-6E8A-4147-A177-3AD203B41FA5}">
                      <a16:colId xmlns:a16="http://schemas.microsoft.com/office/drawing/2014/main" val="3303465586"/>
                    </a:ext>
                  </a:extLst>
                </a:gridCol>
                <a:gridCol w="3505200">
                  <a:extLst>
                    <a:ext uri="{9D8B030D-6E8A-4147-A177-3AD203B41FA5}">
                      <a16:colId xmlns:a16="http://schemas.microsoft.com/office/drawing/2014/main" val="2057769706"/>
                    </a:ext>
                  </a:extLst>
                </a:gridCol>
              </a:tblGrid>
              <a:tr h="0">
                <a:tc>
                  <a:txBody>
                    <a:bodyPr/>
                    <a:lstStyle/>
                    <a:p>
                      <a:pPr>
                        <a:buNone/>
                      </a:pPr>
                      <a:r>
                        <a:rPr lang="en-IN" b="1" dirty="0">
                          <a:latin typeface="Times New Roman" panose="02020603050405020304" pitchFamily="18" charset="0"/>
                          <a:cs typeface="Times New Roman" panose="02020603050405020304" pitchFamily="18" charset="0"/>
                        </a:rPr>
                        <a:t>Component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b="1">
                          <a:latin typeface="Times New Roman" panose="02020603050405020304" pitchFamily="18" charset="0"/>
                          <a:cs typeface="Times New Roman" panose="02020603050405020304" pitchFamily="18" charset="0"/>
                        </a:rPr>
                        <a:t>Requirement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Notes</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566166840"/>
                  </a:ext>
                </a:extLst>
              </a:tr>
              <a:tr h="0">
                <a:tc>
                  <a:txBody>
                    <a:bodyPr/>
                    <a:lstStyle/>
                    <a:p>
                      <a:pPr>
                        <a:buNone/>
                      </a:pPr>
                      <a:r>
                        <a:rPr lang="en-IN">
                          <a:latin typeface="Times New Roman" panose="02020603050405020304" pitchFamily="18" charset="0"/>
                          <a:cs typeface="Times New Roman" panose="02020603050405020304" pitchFamily="18" charset="0"/>
                        </a:rPr>
                        <a:t>CPU</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Intel i5 / i7 or equivalent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Multi-core recommended for real-time processing</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57496540"/>
                  </a:ext>
                </a:extLst>
              </a:tr>
              <a:tr h="0">
                <a:tc>
                  <a:txBody>
                    <a:bodyPr/>
                    <a:lstStyle/>
                    <a:p>
                      <a:pPr>
                        <a:buNone/>
                      </a:pPr>
                      <a:r>
                        <a:rPr lang="en-IN">
                          <a:latin typeface="Times New Roman" panose="02020603050405020304" pitchFamily="18" charset="0"/>
                          <a:cs typeface="Times New Roman" panose="02020603050405020304" pitchFamily="18" charset="0"/>
                        </a:rPr>
                        <a:t>RAM</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8 GB minimum</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16 GB recommended for smoother training &amp; testing</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327429947"/>
                  </a:ext>
                </a:extLst>
              </a:tr>
              <a:tr h="0">
                <a:tc>
                  <a:txBody>
                    <a:bodyPr/>
                    <a:lstStyle/>
                    <a:p>
                      <a:pPr>
                        <a:buNone/>
                      </a:pPr>
                      <a:r>
                        <a:rPr lang="en-IN">
                          <a:latin typeface="Times New Roman" panose="02020603050405020304" pitchFamily="18" charset="0"/>
                          <a:cs typeface="Times New Roman" panose="02020603050405020304" pitchFamily="18" charset="0"/>
                        </a:rPr>
                        <a:t>Storage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~2 GB total</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Models: ~400 MB, Datasets: ~1 GB, Logs: variable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459531666"/>
                  </a:ext>
                </a:extLst>
              </a:tr>
              <a:tr h="0">
                <a:tc>
                  <a:txBody>
                    <a:bodyPr/>
                    <a:lstStyle/>
                    <a:p>
                      <a:pPr>
                        <a:buNone/>
                      </a:pPr>
                      <a:r>
                        <a:rPr lang="en-IN">
                          <a:latin typeface="Times New Roman" panose="02020603050405020304" pitchFamily="18" charset="0"/>
                          <a:cs typeface="Times New Roman" panose="02020603050405020304" pitchFamily="18" charset="0"/>
                        </a:rPr>
                        <a:t>Network Interface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Live NIC or Virtual Adapter</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Required for packet capture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8905749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7F54B-6C66-B00D-4263-A2847675E14E}"/>
              </a:ext>
            </a:extLst>
          </p:cNvPr>
          <p:cNvSpPr>
            <a:spLocks noGrp="1"/>
          </p:cNvSpPr>
          <p:nvPr>
            <p:ph type="title"/>
          </p:nvPr>
        </p:nvSpPr>
        <p:spPr>
          <a:xfrm>
            <a:off x="299720" y="-234316"/>
            <a:ext cx="10515600" cy="1325563"/>
          </a:xfrm>
        </p:spPr>
        <p:txBody>
          <a:bodyPr/>
          <a:lstStyle/>
          <a:p>
            <a:r>
              <a:rPr lang="en-US" dirty="0">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BDC73CB-12BF-2DFA-E0C9-E57E1DB0E7A8}"/>
              </a:ext>
            </a:extLst>
          </p:cNvPr>
          <p:cNvGraphicFramePr>
            <a:graphicFrameLocks noGrp="1"/>
          </p:cNvGraphicFramePr>
          <p:nvPr>
            <p:extLst>
              <p:ext uri="{D42A27DB-BD31-4B8C-83A1-F6EECF244321}">
                <p14:modId xmlns:p14="http://schemas.microsoft.com/office/powerpoint/2010/main" val="3354209586"/>
              </p:ext>
            </p:extLst>
          </p:nvPr>
        </p:nvGraphicFramePr>
        <p:xfrm>
          <a:off x="590640" y="1180618"/>
          <a:ext cx="10366920" cy="2584560"/>
        </p:xfrm>
        <a:graphic>
          <a:graphicData uri="http://schemas.openxmlformats.org/drawingml/2006/table">
            <a:tbl>
              <a:tblPr/>
              <a:tblGrid>
                <a:gridCol w="2591730">
                  <a:extLst>
                    <a:ext uri="{9D8B030D-6E8A-4147-A177-3AD203B41FA5}">
                      <a16:colId xmlns:a16="http://schemas.microsoft.com/office/drawing/2014/main" val="2973182256"/>
                    </a:ext>
                  </a:extLst>
                </a:gridCol>
                <a:gridCol w="2591730">
                  <a:extLst>
                    <a:ext uri="{9D8B030D-6E8A-4147-A177-3AD203B41FA5}">
                      <a16:colId xmlns:a16="http://schemas.microsoft.com/office/drawing/2014/main" val="2076034816"/>
                    </a:ext>
                  </a:extLst>
                </a:gridCol>
                <a:gridCol w="2591730">
                  <a:extLst>
                    <a:ext uri="{9D8B030D-6E8A-4147-A177-3AD203B41FA5}">
                      <a16:colId xmlns:a16="http://schemas.microsoft.com/office/drawing/2014/main" val="782111915"/>
                    </a:ext>
                  </a:extLst>
                </a:gridCol>
                <a:gridCol w="2591730">
                  <a:extLst>
                    <a:ext uri="{9D8B030D-6E8A-4147-A177-3AD203B41FA5}">
                      <a16:colId xmlns:a16="http://schemas.microsoft.com/office/drawing/2014/main" val="1920541873"/>
                    </a:ext>
                  </a:extLst>
                </a:gridCol>
              </a:tblGrid>
              <a:tr h="341281">
                <a:tc>
                  <a:txBody>
                    <a:bodyPr/>
                    <a:lstStyle/>
                    <a:p>
                      <a:pPr algn="just">
                        <a:buNone/>
                      </a:pPr>
                      <a:r>
                        <a:rPr lang="en-IN" sz="1700" b="1" dirty="0">
                          <a:latin typeface="Times New Roman" panose="02020603050405020304" pitchFamily="18" charset="0"/>
                          <a:cs typeface="Times New Roman" panose="02020603050405020304" pitchFamily="18" charset="0"/>
                        </a:rPr>
                        <a:t>Component</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b="1">
                          <a:latin typeface="Times New Roman" panose="02020603050405020304" pitchFamily="18" charset="0"/>
                          <a:cs typeface="Times New Roman" panose="02020603050405020304" pitchFamily="18" charset="0"/>
                        </a:rPr>
                        <a:t>Tool / Library</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b="1" dirty="0">
                          <a:latin typeface="Times New Roman" panose="02020603050405020304" pitchFamily="18" charset="0"/>
                          <a:cs typeface="Times New Roman" panose="02020603050405020304" pitchFamily="18" charset="0"/>
                        </a:rPr>
                        <a:t>Version</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b="1" dirty="0">
                          <a:latin typeface="Times New Roman" panose="02020603050405020304" pitchFamily="18" charset="0"/>
                          <a:cs typeface="Times New Roman" panose="02020603050405020304" pitchFamily="18" charset="0"/>
                        </a:rPr>
                        <a:t>Purpose</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847377988"/>
                  </a:ext>
                </a:extLst>
              </a:tr>
              <a:tr h="341281">
                <a:tc>
                  <a:txBody>
                    <a:bodyPr/>
                    <a:lstStyle/>
                    <a:p>
                      <a:pPr algn="just">
                        <a:buNone/>
                      </a:pPr>
                      <a:r>
                        <a:rPr lang="en-IN" sz="1700">
                          <a:latin typeface="Times New Roman" panose="02020603050405020304" pitchFamily="18" charset="0"/>
                          <a:cs typeface="Times New Roman" panose="02020603050405020304" pitchFamily="18" charset="0"/>
                        </a:rPr>
                        <a:t>Deep Learning</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TensorFlow / Keras</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2.13+</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Autoencoder architecture</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275977308"/>
                  </a:ext>
                </a:extLst>
              </a:tr>
              <a:tr h="597242">
                <a:tc>
                  <a:txBody>
                    <a:bodyPr/>
                    <a:lstStyle/>
                    <a:p>
                      <a:pPr algn="just">
                        <a:buNone/>
                      </a:pPr>
                      <a:r>
                        <a:rPr lang="en-IN" sz="1700" dirty="0">
                          <a:latin typeface="Times New Roman" panose="02020603050405020304" pitchFamily="18" charset="0"/>
                          <a:cs typeface="Times New Roman" panose="02020603050405020304" pitchFamily="18" charset="0"/>
                        </a:rPr>
                        <a:t>ML &amp; Anomaly Detection</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scikit-learn</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1.3+</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dirty="0">
                          <a:latin typeface="Times New Roman" panose="02020603050405020304" pitchFamily="18" charset="0"/>
                          <a:cs typeface="Times New Roman" panose="02020603050405020304" pitchFamily="18" charset="0"/>
                        </a:rPr>
                        <a:t>Isolation Forest, Random Forest, preprocessing</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562927526"/>
                  </a:ext>
                </a:extLst>
              </a:tr>
              <a:tr h="341281">
                <a:tc>
                  <a:txBody>
                    <a:bodyPr/>
                    <a:lstStyle/>
                    <a:p>
                      <a:pPr algn="just">
                        <a:buNone/>
                      </a:pPr>
                      <a:r>
                        <a:rPr lang="en-IN" sz="1700">
                          <a:latin typeface="Times New Roman" panose="02020603050405020304" pitchFamily="18" charset="0"/>
                          <a:cs typeface="Times New Roman" panose="02020603050405020304" pitchFamily="18" charset="0"/>
                        </a:rPr>
                        <a:t>Data Processing</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pandas, NumPy</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Latest</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Flow feature computation</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66335248"/>
                  </a:ext>
                </a:extLst>
              </a:tr>
              <a:tr h="597242">
                <a:tc>
                  <a:txBody>
                    <a:bodyPr/>
                    <a:lstStyle/>
                    <a:p>
                      <a:pPr algn="just">
                        <a:buNone/>
                      </a:pPr>
                      <a:r>
                        <a:rPr lang="en-IN" sz="1700" dirty="0">
                          <a:latin typeface="Times New Roman" panose="02020603050405020304" pitchFamily="18" charset="0"/>
                          <a:cs typeface="Times New Roman" panose="02020603050405020304" pitchFamily="18" charset="0"/>
                        </a:rPr>
                        <a:t>Packet Capture</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Scapy</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2.7.0</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Raw packet sniffing &amp; parsing</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09309559"/>
                  </a:ext>
                </a:extLst>
              </a:tr>
              <a:tr h="341281">
                <a:tc>
                  <a:txBody>
                    <a:bodyPr/>
                    <a:lstStyle/>
                    <a:p>
                      <a:pPr algn="just">
                        <a:buNone/>
                      </a:pPr>
                      <a:r>
                        <a:rPr lang="en-IN" sz="1700">
                          <a:latin typeface="Times New Roman" panose="02020603050405020304" pitchFamily="18" charset="0"/>
                          <a:cs typeface="Times New Roman" panose="02020603050405020304" pitchFamily="18" charset="0"/>
                        </a:rPr>
                        <a:t>Config Management</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PyYAML</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a:latin typeface="Times New Roman" panose="02020603050405020304" pitchFamily="18" charset="0"/>
                          <a:cs typeface="Times New Roman" panose="02020603050405020304" pitchFamily="18" charset="0"/>
                        </a:rPr>
                        <a:t>6.0+</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sz="1700" dirty="0">
                          <a:latin typeface="Times New Roman" panose="02020603050405020304" pitchFamily="18" charset="0"/>
                          <a:cs typeface="Times New Roman" panose="02020603050405020304" pitchFamily="18" charset="0"/>
                        </a:rPr>
                        <a:t>YAML-based configuration</a:t>
                      </a:r>
                    </a:p>
                  </a:txBody>
                  <a:tcPr marL="85320" marR="85320" marT="42660" marB="4266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97544462"/>
                  </a:ext>
                </a:extLst>
              </a:tr>
            </a:tbl>
          </a:graphicData>
        </a:graphic>
      </p:graphicFrame>
      <p:graphicFrame>
        <p:nvGraphicFramePr>
          <p:cNvPr id="10" name="Table 9">
            <a:extLst>
              <a:ext uri="{FF2B5EF4-FFF2-40B4-BE49-F238E27FC236}">
                <a16:creationId xmlns:a16="http://schemas.microsoft.com/office/drawing/2014/main" id="{976E9C3F-505B-FB8B-53F1-A6C9345EAB22}"/>
              </a:ext>
            </a:extLst>
          </p:cNvPr>
          <p:cNvGraphicFramePr>
            <a:graphicFrameLocks noGrp="1"/>
          </p:cNvGraphicFramePr>
          <p:nvPr>
            <p:extLst>
              <p:ext uri="{D42A27DB-BD31-4B8C-83A1-F6EECF244321}">
                <p14:modId xmlns:p14="http://schemas.microsoft.com/office/powerpoint/2010/main" val="1115321117"/>
              </p:ext>
            </p:extLst>
          </p:nvPr>
        </p:nvGraphicFramePr>
        <p:xfrm>
          <a:off x="590640" y="4232040"/>
          <a:ext cx="10515600" cy="1828800"/>
        </p:xfrm>
        <a:graphic>
          <a:graphicData uri="http://schemas.openxmlformats.org/drawingml/2006/table">
            <a:tbl>
              <a:tblPr/>
              <a:tblGrid>
                <a:gridCol w="3505200">
                  <a:extLst>
                    <a:ext uri="{9D8B030D-6E8A-4147-A177-3AD203B41FA5}">
                      <a16:colId xmlns:a16="http://schemas.microsoft.com/office/drawing/2014/main" val="2041291969"/>
                    </a:ext>
                  </a:extLst>
                </a:gridCol>
                <a:gridCol w="3505200">
                  <a:extLst>
                    <a:ext uri="{9D8B030D-6E8A-4147-A177-3AD203B41FA5}">
                      <a16:colId xmlns:a16="http://schemas.microsoft.com/office/drawing/2014/main" val="2775287450"/>
                    </a:ext>
                  </a:extLst>
                </a:gridCol>
                <a:gridCol w="3505200">
                  <a:extLst>
                    <a:ext uri="{9D8B030D-6E8A-4147-A177-3AD203B41FA5}">
                      <a16:colId xmlns:a16="http://schemas.microsoft.com/office/drawing/2014/main" val="472466781"/>
                    </a:ext>
                  </a:extLst>
                </a:gridCol>
              </a:tblGrid>
              <a:tr h="0">
                <a:tc>
                  <a:txBody>
                    <a:bodyPr/>
                    <a:lstStyle/>
                    <a:p>
                      <a:pPr algn="just">
                        <a:buNone/>
                      </a:pPr>
                      <a:r>
                        <a:rPr lang="en-IN" b="1">
                          <a:latin typeface="Times New Roman" panose="02020603050405020304" pitchFamily="18" charset="0"/>
                          <a:cs typeface="Times New Roman" panose="02020603050405020304" pitchFamily="18" charset="0"/>
                        </a:rPr>
                        <a:t>Component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b="1">
                          <a:latin typeface="Times New Roman" panose="02020603050405020304" pitchFamily="18" charset="0"/>
                          <a:cs typeface="Times New Roman" panose="02020603050405020304" pitchFamily="18" charset="0"/>
                        </a:rPr>
                        <a:t>Recommended Configuration</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b="1" dirty="0">
                          <a:latin typeface="Times New Roman" panose="02020603050405020304" pitchFamily="18" charset="0"/>
                          <a:cs typeface="Times New Roman" panose="02020603050405020304" pitchFamily="18" charset="0"/>
                        </a:rPr>
                        <a:t>Purpose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979452096"/>
                  </a:ext>
                </a:extLst>
              </a:tr>
              <a:tr h="0">
                <a:tc>
                  <a:txBody>
                    <a:bodyPr/>
                    <a:lstStyle/>
                    <a:p>
                      <a:pPr algn="just">
                        <a:buNone/>
                      </a:pPr>
                      <a:r>
                        <a:rPr lang="en-IN">
                          <a:latin typeface="Times New Roman" panose="02020603050405020304" pitchFamily="18" charset="0"/>
                          <a:cs typeface="Times New Roman" panose="02020603050405020304" pitchFamily="18" charset="0"/>
                        </a:rPr>
                        <a:t>Operating System</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a:latin typeface="Times New Roman" panose="02020603050405020304" pitchFamily="18" charset="0"/>
                          <a:cs typeface="Times New Roman" panose="02020603050405020304" pitchFamily="18" charset="0"/>
                        </a:rPr>
                        <a:t>Windows 10 / 11</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dirty="0">
                          <a:latin typeface="Times New Roman" panose="02020603050405020304" pitchFamily="18" charset="0"/>
                          <a:cs typeface="Times New Roman" panose="02020603050405020304" pitchFamily="18" charset="0"/>
                        </a:rPr>
                        <a:t>Stable development environment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284792828"/>
                  </a:ext>
                </a:extLst>
              </a:tr>
              <a:tr h="0">
                <a:tc>
                  <a:txBody>
                    <a:bodyPr/>
                    <a:lstStyle/>
                    <a:p>
                      <a:pPr algn="just">
                        <a:buNone/>
                      </a:pPr>
                      <a:r>
                        <a:rPr lang="en-IN">
                          <a:latin typeface="Times New Roman" panose="02020603050405020304" pitchFamily="18" charset="0"/>
                          <a:cs typeface="Times New Roman" panose="02020603050405020304" pitchFamily="18" charset="0"/>
                        </a:rPr>
                        <a:t>Packet Capture Driver</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a:latin typeface="Times New Roman" panose="02020603050405020304" pitchFamily="18" charset="0"/>
                          <a:cs typeface="Times New Roman" panose="02020603050405020304" pitchFamily="18" charset="0"/>
                        </a:rPr>
                        <a:t>Npcap Installed</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US">
                          <a:latin typeface="Times New Roman" panose="02020603050405020304" pitchFamily="18" charset="0"/>
                          <a:cs typeface="Times New Roman" panose="02020603050405020304" pitchFamily="18" charset="0"/>
                        </a:rPr>
                        <a:t>Required for Scapy packet sniffing</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859662021"/>
                  </a:ext>
                </a:extLst>
              </a:tr>
              <a:tr h="0">
                <a:tc>
                  <a:txBody>
                    <a:bodyPr/>
                    <a:lstStyle/>
                    <a:p>
                      <a:pPr algn="just">
                        <a:buNone/>
                      </a:pPr>
                      <a:r>
                        <a:rPr lang="en-IN" dirty="0">
                          <a:latin typeface="Times New Roman" panose="02020603050405020304" pitchFamily="18" charset="0"/>
                          <a:cs typeface="Times New Roman" panose="02020603050405020304" pitchFamily="18" charset="0"/>
                        </a:rPr>
                        <a:t>Programming Language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US" dirty="0">
                          <a:latin typeface="Times New Roman" panose="02020603050405020304" pitchFamily="18" charset="0"/>
                          <a:cs typeface="Times New Roman" panose="02020603050405020304" pitchFamily="18" charset="0"/>
                        </a:rPr>
                        <a:t>Python 3.10+</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US" dirty="0">
                          <a:latin typeface="Times New Roman" panose="02020603050405020304" pitchFamily="18" charset="0"/>
                          <a:cs typeface="Times New Roman" panose="02020603050405020304" pitchFamily="18" charset="0"/>
                        </a:rPr>
                        <a:t>Core Programming Language</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031533121"/>
                  </a:ext>
                </a:extLst>
              </a:tr>
              <a:tr h="0">
                <a:tc>
                  <a:txBody>
                    <a:bodyPr/>
                    <a:lstStyle/>
                    <a:p>
                      <a:pPr algn="just">
                        <a:buNone/>
                      </a:pPr>
                      <a:r>
                        <a:rPr lang="en-IN" dirty="0">
                          <a:latin typeface="Times New Roman" panose="02020603050405020304" pitchFamily="18" charset="0"/>
                          <a:cs typeface="Times New Roman" panose="02020603050405020304" pitchFamily="18" charset="0"/>
                        </a:rPr>
                        <a:t>Network Speed</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dirty="0">
                          <a:latin typeface="Times New Roman" panose="02020603050405020304" pitchFamily="18" charset="0"/>
                          <a:cs typeface="Times New Roman" panose="02020603050405020304" pitchFamily="18" charset="0"/>
                        </a:rPr>
                        <a:t>1 Gbps Interface</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just">
                        <a:buNone/>
                      </a:pPr>
                      <a:r>
                        <a:rPr lang="en-IN" dirty="0">
                          <a:latin typeface="Times New Roman" panose="02020603050405020304" pitchFamily="18" charset="0"/>
                          <a:cs typeface="Times New Roman" panose="02020603050405020304" pitchFamily="18" charset="0"/>
                        </a:rPr>
                        <a:t>Supports high flow throughput</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352557526"/>
                  </a:ext>
                </a:extLst>
              </a:tr>
            </a:tbl>
          </a:graphicData>
        </a:graphic>
      </p:graphicFrame>
    </p:spTree>
    <p:extLst>
      <p:ext uri="{BB962C8B-B14F-4D97-AF65-F5344CB8AC3E}">
        <p14:creationId xmlns:p14="http://schemas.microsoft.com/office/powerpoint/2010/main" val="3139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B6DE4D16-BB10-8628-7F44-B118BE922715}"/>
              </a:ext>
            </a:extLst>
          </p:cNvPr>
          <p:cNvSpPr>
            <a:spLocks noGrp="1" noChangeArrowheads="1"/>
          </p:cNvSpPr>
          <p:nvPr>
            <p:ph type="title"/>
          </p:nvPr>
        </p:nvSpPr>
        <p:spPr>
          <a:xfrm>
            <a:off x="142240" y="249439"/>
            <a:ext cx="10515600" cy="1325563"/>
          </a:xfrm>
        </p:spPr>
        <p:txBody>
          <a:bodyPr/>
          <a:lstStyle/>
          <a:p>
            <a:r>
              <a:rPr lang="en-US" altLang="en-US" dirty="0">
                <a:latin typeface="Times New Roman" panose="02020603050405020304" pitchFamily="18" charset="0"/>
                <a:cs typeface="Times New Roman" panose="02020603050405020304" pitchFamily="18" charset="0"/>
              </a:rPr>
              <a:t>Modular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Architecture</a:t>
            </a:r>
          </a:p>
        </p:txBody>
      </p:sp>
      <p:pic>
        <p:nvPicPr>
          <p:cNvPr id="9" name="Picture 8">
            <a:extLst>
              <a:ext uri="{FF2B5EF4-FFF2-40B4-BE49-F238E27FC236}">
                <a16:creationId xmlns:a16="http://schemas.microsoft.com/office/drawing/2014/main" id="{B861DD65-A71C-8E39-6271-EAD9406EAADC}"/>
              </a:ext>
            </a:extLst>
          </p:cNvPr>
          <p:cNvPicPr>
            <a:picLocks noChangeAspect="1"/>
          </p:cNvPicPr>
          <p:nvPr/>
        </p:nvPicPr>
        <p:blipFill>
          <a:blip r:embed="rId2"/>
          <a:stretch>
            <a:fillRect/>
          </a:stretch>
        </p:blipFill>
        <p:spPr>
          <a:xfrm>
            <a:off x="3063316" y="0"/>
            <a:ext cx="6065367"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D8BD9EE-467B-381F-0AAD-6D290AD6D5A6}"/>
              </a:ext>
            </a:extLst>
          </p:cNvPr>
          <p:cNvSpPr>
            <a:spLocks noGrp="1" noChangeArrowheads="1"/>
          </p:cNvSpPr>
          <p:nvPr>
            <p:ph type="title"/>
          </p:nvPr>
        </p:nvSpPr>
        <p:spPr>
          <a:xfrm>
            <a:off x="213362" y="-132233"/>
            <a:ext cx="10515600" cy="1325563"/>
          </a:xfrm>
        </p:spPr>
        <p:txBody>
          <a:bodyPr/>
          <a:lstStyle/>
          <a:p>
            <a:r>
              <a:rPr lang="en-US" altLang="en-US" dirty="0">
                <a:latin typeface="Times New Roman" panose="02020603050405020304" pitchFamily="18" charset="0"/>
                <a:cs typeface="Times New Roman" panose="02020603050405020304" pitchFamily="18" charset="0"/>
              </a:rPr>
              <a:t>Existing work/method and challenges</a:t>
            </a:r>
          </a:p>
        </p:txBody>
      </p:sp>
      <p:graphicFrame>
        <p:nvGraphicFramePr>
          <p:cNvPr id="6" name="Table 5">
            <a:extLst>
              <a:ext uri="{FF2B5EF4-FFF2-40B4-BE49-F238E27FC236}">
                <a16:creationId xmlns:a16="http://schemas.microsoft.com/office/drawing/2014/main" id="{3AB786C3-1D89-0B93-8031-58EA4A422A85}"/>
              </a:ext>
            </a:extLst>
          </p:cNvPr>
          <p:cNvGraphicFramePr>
            <a:graphicFrameLocks noGrp="1"/>
          </p:cNvGraphicFramePr>
          <p:nvPr>
            <p:extLst>
              <p:ext uri="{D42A27DB-BD31-4B8C-83A1-F6EECF244321}">
                <p14:modId xmlns:p14="http://schemas.microsoft.com/office/powerpoint/2010/main" val="1330516231"/>
              </p:ext>
            </p:extLst>
          </p:nvPr>
        </p:nvGraphicFramePr>
        <p:xfrm>
          <a:off x="307030" y="959650"/>
          <a:ext cx="11577940" cy="5590452"/>
        </p:xfrm>
        <a:graphic>
          <a:graphicData uri="http://schemas.openxmlformats.org/drawingml/2006/table">
            <a:tbl>
              <a:tblPr/>
              <a:tblGrid>
                <a:gridCol w="2315588">
                  <a:extLst>
                    <a:ext uri="{9D8B030D-6E8A-4147-A177-3AD203B41FA5}">
                      <a16:colId xmlns:a16="http://schemas.microsoft.com/office/drawing/2014/main" val="3167599398"/>
                    </a:ext>
                  </a:extLst>
                </a:gridCol>
                <a:gridCol w="2315588">
                  <a:extLst>
                    <a:ext uri="{9D8B030D-6E8A-4147-A177-3AD203B41FA5}">
                      <a16:colId xmlns:a16="http://schemas.microsoft.com/office/drawing/2014/main" val="1346836368"/>
                    </a:ext>
                  </a:extLst>
                </a:gridCol>
                <a:gridCol w="2315588">
                  <a:extLst>
                    <a:ext uri="{9D8B030D-6E8A-4147-A177-3AD203B41FA5}">
                      <a16:colId xmlns:a16="http://schemas.microsoft.com/office/drawing/2014/main" val="3794699877"/>
                    </a:ext>
                  </a:extLst>
                </a:gridCol>
                <a:gridCol w="2315588">
                  <a:extLst>
                    <a:ext uri="{9D8B030D-6E8A-4147-A177-3AD203B41FA5}">
                      <a16:colId xmlns:a16="http://schemas.microsoft.com/office/drawing/2014/main" val="924430487"/>
                    </a:ext>
                  </a:extLst>
                </a:gridCol>
                <a:gridCol w="2315588">
                  <a:extLst>
                    <a:ext uri="{9D8B030D-6E8A-4147-A177-3AD203B41FA5}">
                      <a16:colId xmlns:a16="http://schemas.microsoft.com/office/drawing/2014/main" val="3077819383"/>
                    </a:ext>
                  </a:extLst>
                </a:gridCol>
              </a:tblGrid>
              <a:tr h="441440">
                <a:tc>
                  <a:txBody>
                    <a:bodyPr/>
                    <a:lstStyle/>
                    <a:p>
                      <a:pPr algn="l">
                        <a:buNone/>
                      </a:pPr>
                      <a:r>
                        <a:rPr lang="en-IN" sz="1800" b="1">
                          <a:latin typeface="Times New Roman" panose="02020603050405020304" pitchFamily="18" charset="0"/>
                          <a:cs typeface="Times New Roman" panose="02020603050405020304" pitchFamily="18" charset="0"/>
                        </a:rPr>
                        <a:t>Existing System</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IN" sz="1800" b="1">
                          <a:latin typeface="Times New Roman" panose="02020603050405020304" pitchFamily="18" charset="0"/>
                          <a:cs typeface="Times New Roman" panose="02020603050405020304" pitchFamily="18" charset="0"/>
                        </a:rPr>
                        <a:t>Core Idea</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IN" sz="1800" b="1">
                          <a:latin typeface="Times New Roman" panose="02020603050405020304" pitchFamily="18" charset="0"/>
                          <a:cs typeface="Times New Roman" panose="02020603050405020304" pitchFamily="18" charset="0"/>
                        </a:rPr>
                        <a:t>Strengths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IN" sz="1800" b="1">
                          <a:latin typeface="Times New Roman" panose="02020603050405020304" pitchFamily="18" charset="0"/>
                          <a:cs typeface="Times New Roman" panose="02020603050405020304" pitchFamily="18" charset="0"/>
                        </a:rPr>
                        <a:t>Limitations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b="1" dirty="0">
                          <a:latin typeface="Times New Roman" panose="02020603050405020304" pitchFamily="18" charset="0"/>
                          <a:cs typeface="Times New Roman" panose="02020603050405020304" pitchFamily="18" charset="0"/>
                        </a:rPr>
                        <a:t>Why We Needed Our System</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61765534"/>
                  </a:ext>
                </a:extLst>
              </a:tr>
              <a:tr h="1009006">
                <a:tc>
                  <a:txBody>
                    <a:bodyPr/>
                    <a:lstStyle/>
                    <a:p>
                      <a:pPr algn="l">
                        <a:buNone/>
                      </a:pPr>
                      <a:r>
                        <a:rPr lang="en-IN" sz="1800" b="1" dirty="0">
                          <a:latin typeface="Times New Roman" panose="02020603050405020304" pitchFamily="18" charset="0"/>
                          <a:cs typeface="Times New Roman" panose="02020603050405020304" pitchFamily="18" charset="0"/>
                        </a:rPr>
                        <a:t>Signature-Based IDS (Snort, Suricata)</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Match traffic against known attack signatures/rules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Accurate for known threats, low false alarms, fast matching</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Cannot detect zero-day/unknown attacks, requires constant rule updates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Need detection beyond known signatures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54121191"/>
                  </a:ext>
                </a:extLst>
              </a:tr>
              <a:tr h="1009006">
                <a:tc>
                  <a:txBody>
                    <a:bodyPr/>
                    <a:lstStyle/>
                    <a:p>
                      <a:pPr algn="l">
                        <a:buNone/>
                      </a:pPr>
                      <a:r>
                        <a:rPr lang="en-IN" sz="1800" b="1">
                          <a:latin typeface="Times New Roman" panose="02020603050405020304" pitchFamily="18" charset="0"/>
                          <a:cs typeface="Times New Roman" panose="02020603050405020304" pitchFamily="18" charset="0"/>
                        </a:rPr>
                        <a:t>Rule / Threshold-Based Monitoring</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Trigger alerts when traffic exceeds fixed thresholds (rate, ports, bytes)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Simple, lightweight, easy to deploy</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High false positives in dynamic environments, difficult to tune globally</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IN" sz="1800">
                          <a:latin typeface="Times New Roman" panose="02020603050405020304" pitchFamily="18" charset="0"/>
                          <a:cs typeface="Times New Roman" panose="02020603050405020304" pitchFamily="18" charset="0"/>
                        </a:rPr>
                        <a:t>Need adaptive, context-aware detection</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455914537"/>
                  </a:ext>
                </a:extLst>
              </a:tr>
              <a:tr h="630629">
                <a:tc>
                  <a:txBody>
                    <a:bodyPr/>
                    <a:lstStyle/>
                    <a:p>
                      <a:pPr algn="l">
                        <a:buNone/>
                      </a:pPr>
                      <a:r>
                        <a:rPr lang="en-IN" sz="1800" b="1">
                          <a:latin typeface="Times New Roman" panose="02020603050405020304" pitchFamily="18" charset="0"/>
                          <a:cs typeface="Times New Roman" panose="02020603050405020304" pitchFamily="18" charset="0"/>
                        </a:rPr>
                        <a:t>Statistical Anomaly IDS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Build baseline of normal traffic and flag deviations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Can detect previously unseen behavior</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IN" sz="1800">
                          <a:latin typeface="Times New Roman" panose="02020603050405020304" pitchFamily="18" charset="0"/>
                          <a:cs typeface="Times New Roman" panose="02020603050405020304" pitchFamily="18" charset="0"/>
                        </a:rPr>
                        <a:t>Baseline drift, unstable over time, noisy alerts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Need stable and controlled anomaly filtering</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532625265"/>
                  </a:ext>
                </a:extLst>
              </a:tr>
              <a:tr h="630629">
                <a:tc>
                  <a:txBody>
                    <a:bodyPr/>
                    <a:lstStyle/>
                    <a:p>
                      <a:pPr algn="l">
                        <a:buNone/>
                      </a:pPr>
                      <a:r>
                        <a:rPr lang="en-US" sz="1800" b="1">
                          <a:latin typeface="Times New Roman" panose="02020603050405020304" pitchFamily="18" charset="0"/>
                          <a:cs typeface="Times New Roman" panose="02020603050405020304" pitchFamily="18" charset="0"/>
                        </a:rPr>
                        <a:t>Single-Model ML IDS (SVM/RF/NN only)</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One ML model directly classifies benign vs attack</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Learns patterns better than static rules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Risk of overfitting, weak generalization to unseen attacks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Need multi-stage detection for robustness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256452182"/>
                  </a:ext>
                </a:extLst>
              </a:tr>
              <a:tr h="630629">
                <a:tc>
                  <a:txBody>
                    <a:bodyPr/>
                    <a:lstStyle/>
                    <a:p>
                      <a:pPr algn="l">
                        <a:buNone/>
                      </a:pPr>
                      <a:r>
                        <a:rPr lang="en-US" sz="1800" b="1" dirty="0">
                          <a:latin typeface="Times New Roman" panose="02020603050405020304" pitchFamily="18" charset="0"/>
                          <a:cs typeface="Times New Roman" panose="02020603050405020304" pitchFamily="18" charset="0"/>
                        </a:rPr>
                        <a:t>Flow Analysis Platforms (Zeek/Bro + scripts)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Deep protocol and flow visibility using scripting</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Excellent traffic visibility, strong for forensics</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a:latin typeface="Times New Roman" panose="02020603050405020304" pitchFamily="18" charset="0"/>
                          <a:cs typeface="Times New Roman" panose="02020603050405020304" pitchFamily="18" charset="0"/>
                        </a:rPr>
                        <a:t>Detection quality depends on custom logic, complex setup</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lgn="l">
                        <a:buNone/>
                      </a:pPr>
                      <a:r>
                        <a:rPr lang="en-US" sz="1800" dirty="0">
                          <a:latin typeface="Times New Roman" panose="02020603050405020304" pitchFamily="18" charset="0"/>
                          <a:cs typeface="Times New Roman" panose="02020603050405020304" pitchFamily="18" charset="0"/>
                        </a:rPr>
                        <a:t>Need integrated ML-based decision pipeline</a:t>
                      </a:r>
                    </a:p>
                  </a:txBody>
                  <a:tcPr marL="63063" marR="63063" marT="31531" marB="31531"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05257448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A2E7E-B381-DBD4-E839-B543FE045CEF}"/>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C7A3C042-00BE-90DE-01AC-F3F9A9C97780}"/>
              </a:ext>
            </a:extLst>
          </p:cNvPr>
          <p:cNvSpPr>
            <a:spLocks noGrp="1" noChangeArrowheads="1"/>
          </p:cNvSpPr>
          <p:nvPr>
            <p:ph type="title"/>
          </p:nvPr>
        </p:nvSpPr>
        <p:spPr>
          <a:xfrm>
            <a:off x="112743" y="-232342"/>
            <a:ext cx="11076366" cy="1325563"/>
          </a:xfrm>
        </p:spPr>
        <p:txBody>
          <a:bodyPr/>
          <a:lstStyle/>
          <a:p>
            <a:r>
              <a:rPr lang="en-US" altLang="en-US" dirty="0">
                <a:latin typeface="Times New Roman" panose="02020603050405020304" pitchFamily="18" charset="0"/>
                <a:cs typeface="Times New Roman" panose="02020603050405020304" pitchFamily="18" charset="0"/>
              </a:rPr>
              <a:t>System Architecture</a:t>
            </a:r>
          </a:p>
        </p:txBody>
      </p:sp>
      <p:pic>
        <p:nvPicPr>
          <p:cNvPr id="8" name="Picture 7">
            <a:extLst>
              <a:ext uri="{FF2B5EF4-FFF2-40B4-BE49-F238E27FC236}">
                <a16:creationId xmlns:a16="http://schemas.microsoft.com/office/drawing/2014/main" id="{623068AB-6811-2284-CB8F-D052C7ECF961}"/>
              </a:ext>
            </a:extLst>
          </p:cNvPr>
          <p:cNvPicPr>
            <a:picLocks noChangeAspect="1"/>
          </p:cNvPicPr>
          <p:nvPr/>
        </p:nvPicPr>
        <p:blipFill>
          <a:blip r:embed="rId2"/>
          <a:stretch>
            <a:fillRect/>
          </a:stretch>
        </p:blipFill>
        <p:spPr>
          <a:xfrm>
            <a:off x="0" y="1742150"/>
            <a:ext cx="12192000" cy="3536519"/>
          </a:xfrm>
          <a:prstGeom prst="rect">
            <a:avLst/>
          </a:prstGeom>
        </p:spPr>
      </p:pic>
    </p:spTree>
    <p:extLst>
      <p:ext uri="{BB962C8B-B14F-4D97-AF65-F5344CB8AC3E}">
        <p14:creationId xmlns:p14="http://schemas.microsoft.com/office/powerpoint/2010/main" val="138533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a:extLst>
              <a:ext uri="{FF2B5EF4-FFF2-40B4-BE49-F238E27FC236}">
                <a16:creationId xmlns:a16="http://schemas.microsoft.com/office/drawing/2014/main" id="{C790AA80-E36D-A993-D331-CAF65E3F5547}"/>
              </a:ext>
            </a:extLst>
          </p:cNvPr>
          <p:cNvSpPr>
            <a:spLocks noGrp="1" noChangeArrowheads="1"/>
          </p:cNvSpPr>
          <p:nvPr>
            <p:ph type="title"/>
          </p:nvPr>
        </p:nvSpPr>
        <p:spPr>
          <a:xfrm>
            <a:off x="838200" y="2767013"/>
            <a:ext cx="10515600" cy="1325562"/>
          </a:xfrm>
        </p:spPr>
        <p:txBody>
          <a:bodyPr/>
          <a:lstStyle/>
          <a:p>
            <a:pPr algn="ctr"/>
            <a:r>
              <a:rPr lang="en-US" altLang="en-US"/>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1266</Words>
  <Application>Microsoft Office PowerPoint</Application>
  <PresentationFormat>Widescreen</PresentationFormat>
  <Paragraphs>201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An Efficient Intrusion Detection System using Advanced Machine Learning Techniques for Healthcare System</vt:lpstr>
      <vt:lpstr>Abstract</vt:lpstr>
      <vt:lpstr>Introduction</vt:lpstr>
      <vt:lpstr>PowerPoint Presentation</vt:lpstr>
      <vt:lpstr>PowerPoint Presentation</vt:lpstr>
      <vt:lpstr>Functional Requirements</vt:lpstr>
      <vt:lpstr>Non-Functional Requirements</vt:lpstr>
      <vt:lpstr>Hardware Requirements</vt:lpstr>
      <vt:lpstr>Software Requirements</vt:lpstr>
      <vt:lpstr>Modular  Architecture</vt:lpstr>
      <vt:lpstr>Existing work/method and challenges</vt:lpstr>
      <vt:lpstr>System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Nilesh R</dc:creator>
  <cp:lastModifiedBy>Nilesh R</cp:lastModifiedBy>
  <cp:revision>4</cp:revision>
  <dcterms:modified xsi:type="dcterms:W3CDTF">2026-02-26T14:56:56Z</dcterms:modified>
</cp:coreProperties>
</file>